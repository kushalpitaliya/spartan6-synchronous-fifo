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258" r:id="rId3"/>
  </p:sldIdLst>
  <p:sldSz cx="20150138" cy="15113000"/>
  <p:notesSz cx="6858000" cy="9144000"/>
  <p:embeddedFontLst>
    <p:embeddedFont>
      <p:font typeface="Bodoni FLF" panose="020B0604020202020204"/>
      <p:regular r:id="rId4"/>
    </p:embeddedFont>
    <p:embeddedFont>
      <p:font typeface="Calibri (MS)" panose="020B0604020202020204" charset="0"/>
      <p:regular r:id="rId5"/>
    </p:embeddedFont>
    <p:embeddedFont>
      <p:font typeface="Calibri (MS) Bold" panose="020B0604020202020204" charset="0"/>
      <p:regular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B0747D-E0BA-C3F2-ABC7-9F1E8674967B}" v="201" dt="2025-11-14T04:22:47.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2" d="100"/>
          <a:sy n="42" d="100"/>
        </p:scale>
        <p:origin x="750"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microsoft.com/office/2015/10/relationships/revisionInfo" Target="revisionInfo.xml"/><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6" y="2130426"/>
            <a:ext cx="10362928" cy="1470025"/>
          </a:xfrm>
        </p:spPr>
        <p:txBody>
          <a:bodyPr/>
          <a:lstStyle/>
          <a:p>
            <a:r>
              <a:rPr lang="en-US"/>
              <a:t>Click to edit Master title style</a:t>
            </a:r>
          </a:p>
        </p:txBody>
      </p:sp>
      <p:sp>
        <p:nvSpPr>
          <p:cNvPr id="3" name="Subtitle 2"/>
          <p:cNvSpPr>
            <a:spLocks noGrp="1"/>
          </p:cNvSpPr>
          <p:nvPr>
            <p:ph type="subTitle" idx="1"/>
          </p:nvPr>
        </p:nvSpPr>
        <p:spPr>
          <a:xfrm>
            <a:off x="1828752" y="3886200"/>
            <a:ext cx="853417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1"/>
            <a:ext cx="10362928"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59" y="2906714"/>
            <a:ext cx="10362928"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584" y="1600201"/>
            <a:ext cx="538465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437" y="1600201"/>
            <a:ext cx="538465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584" y="1535113"/>
            <a:ext cx="538677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84" y="2174875"/>
            <a:ext cx="538677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205" y="1535113"/>
            <a:ext cx="538889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205" y="2174875"/>
            <a:ext cx="538889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5" y="273050"/>
            <a:ext cx="401097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608" y="273051"/>
            <a:ext cx="681548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585" y="1435101"/>
            <a:ext cx="401097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5" y="4800600"/>
            <a:ext cx="7315008"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655" y="612775"/>
            <a:ext cx="731500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5" y="5367338"/>
            <a:ext cx="731500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68" y="274639"/>
            <a:ext cx="2743128"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584" y="274639"/>
            <a:ext cx="802618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12"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584" y="1600201"/>
            <a:ext cx="10972512"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584" y="6356351"/>
            <a:ext cx="284472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11/13/2025</a:t>
            </a:fld>
            <a:endParaRPr lang="en-US"/>
          </a:p>
        </p:txBody>
      </p:sp>
      <p:sp>
        <p:nvSpPr>
          <p:cNvPr id="5" name="Footer Placeholder 4"/>
          <p:cNvSpPr>
            <a:spLocks noGrp="1"/>
          </p:cNvSpPr>
          <p:nvPr>
            <p:ph type="ftr" sz="quarter" idx="3"/>
          </p:nvPr>
        </p:nvSpPr>
        <p:spPr>
          <a:xfrm>
            <a:off x="4165491" y="6356351"/>
            <a:ext cx="386069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71" y="6356351"/>
            <a:ext cx="284472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4B9E"/>
        </a:solidFill>
        <a:effectLst/>
      </p:bgPr>
    </p:bg>
    <p:spTree>
      <p:nvGrpSpPr>
        <p:cNvPr id="1" name=""/>
        <p:cNvGrpSpPr/>
        <p:nvPr/>
      </p:nvGrpSpPr>
      <p:grpSpPr>
        <a:xfrm>
          <a:off x="0" y="0"/>
          <a:ext cx="0" cy="0"/>
          <a:chOff x="0" y="0"/>
          <a:chExt cx="0" cy="0"/>
        </a:xfrm>
      </p:grpSpPr>
      <p:sp>
        <p:nvSpPr>
          <p:cNvPr id="2" name="Freeform 2"/>
          <p:cNvSpPr/>
          <p:nvPr/>
        </p:nvSpPr>
        <p:spPr>
          <a:xfrm>
            <a:off x="221595" y="1281891"/>
            <a:ext cx="19607074" cy="2582681"/>
          </a:xfrm>
          <a:custGeom>
            <a:avLst/>
            <a:gdLst/>
            <a:ahLst/>
            <a:cxnLst/>
            <a:rect l="l" t="t" r="r" b="b"/>
            <a:pathLst>
              <a:path w="14704153" h="2476870">
                <a:moveTo>
                  <a:pt x="0" y="0"/>
                </a:moveTo>
                <a:lnTo>
                  <a:pt x="14704153" y="0"/>
                </a:lnTo>
                <a:lnTo>
                  <a:pt x="14704153" y="2476870"/>
                </a:lnTo>
                <a:lnTo>
                  <a:pt x="0" y="2476870"/>
                </a:lnTo>
                <a:lnTo>
                  <a:pt x="0" y="0"/>
                </a:lnTo>
                <a:close/>
              </a:path>
            </a:pathLst>
          </a:custGeom>
          <a:blipFill>
            <a:blip r:embed="rId2"/>
            <a:stretch>
              <a:fillRect l="-31893" t="-70237" r="-32396"/>
            </a:stretch>
          </a:blipFill>
        </p:spPr>
      </p:sp>
      <p:sp>
        <p:nvSpPr>
          <p:cNvPr id="3" name="Freeform 3"/>
          <p:cNvSpPr/>
          <p:nvPr/>
        </p:nvSpPr>
        <p:spPr>
          <a:xfrm>
            <a:off x="6302663" y="289306"/>
            <a:ext cx="7640707" cy="1136560"/>
          </a:xfrm>
          <a:custGeom>
            <a:avLst/>
            <a:gdLst/>
            <a:ahLst/>
            <a:cxnLst/>
            <a:rect l="l" t="t" r="r" b="b"/>
            <a:pathLst>
              <a:path w="7640707" h="1136560">
                <a:moveTo>
                  <a:pt x="0" y="0"/>
                </a:moveTo>
                <a:lnTo>
                  <a:pt x="7640708" y="0"/>
                </a:lnTo>
                <a:lnTo>
                  <a:pt x="7640708" y="1136560"/>
                </a:lnTo>
                <a:lnTo>
                  <a:pt x="0" y="1136560"/>
                </a:lnTo>
                <a:lnTo>
                  <a:pt x="0" y="0"/>
                </a:lnTo>
                <a:close/>
              </a:path>
            </a:pathLst>
          </a:custGeom>
          <a:blipFill>
            <a:blip r:embed="rId2"/>
            <a:stretch>
              <a:fillRect t="-8670" b="-8670"/>
            </a:stretch>
          </a:blipFill>
        </p:spPr>
      </p:sp>
      <p:grpSp>
        <p:nvGrpSpPr>
          <p:cNvPr id="4" name="Group 4"/>
          <p:cNvGrpSpPr/>
          <p:nvPr/>
        </p:nvGrpSpPr>
        <p:grpSpPr>
          <a:xfrm>
            <a:off x="6683840" y="36699"/>
            <a:ext cx="6941838" cy="1009307"/>
            <a:chOff x="0" y="0"/>
            <a:chExt cx="4063892" cy="590869"/>
          </a:xfrm>
        </p:grpSpPr>
        <p:sp>
          <p:nvSpPr>
            <p:cNvPr id="5" name="Freeform 5"/>
            <p:cNvSpPr/>
            <p:nvPr/>
          </p:nvSpPr>
          <p:spPr>
            <a:xfrm>
              <a:off x="0" y="0"/>
              <a:ext cx="4063893" cy="590869"/>
            </a:xfrm>
            <a:custGeom>
              <a:avLst/>
              <a:gdLst/>
              <a:ahLst/>
              <a:cxnLst/>
              <a:rect l="l" t="t" r="r" b="b"/>
              <a:pathLst>
                <a:path w="4063893" h="590869">
                  <a:moveTo>
                    <a:pt x="14498" y="0"/>
                  </a:moveTo>
                  <a:lnTo>
                    <a:pt x="4049394" y="0"/>
                  </a:lnTo>
                  <a:cubicBezTo>
                    <a:pt x="4057402" y="0"/>
                    <a:pt x="4063893" y="6491"/>
                    <a:pt x="4063893" y="14498"/>
                  </a:cubicBezTo>
                  <a:lnTo>
                    <a:pt x="4063893" y="576370"/>
                  </a:lnTo>
                  <a:cubicBezTo>
                    <a:pt x="4063893" y="584378"/>
                    <a:pt x="4057402" y="590869"/>
                    <a:pt x="4049394" y="590869"/>
                  </a:cubicBezTo>
                  <a:lnTo>
                    <a:pt x="14498" y="590869"/>
                  </a:lnTo>
                  <a:cubicBezTo>
                    <a:pt x="10653" y="590869"/>
                    <a:pt x="6965" y="589341"/>
                    <a:pt x="4246" y="586622"/>
                  </a:cubicBezTo>
                  <a:cubicBezTo>
                    <a:pt x="1527" y="583903"/>
                    <a:pt x="0" y="580216"/>
                    <a:pt x="0" y="576370"/>
                  </a:cubicBezTo>
                  <a:lnTo>
                    <a:pt x="0" y="14498"/>
                  </a:lnTo>
                  <a:cubicBezTo>
                    <a:pt x="0" y="6491"/>
                    <a:pt x="6491" y="0"/>
                    <a:pt x="14498" y="0"/>
                  </a:cubicBezTo>
                  <a:close/>
                </a:path>
              </a:pathLst>
            </a:custGeom>
            <a:solidFill>
              <a:srgbClr val="FFFFFF"/>
            </a:solidFill>
          </p:spPr>
        </p:sp>
        <p:sp>
          <p:nvSpPr>
            <p:cNvPr id="6" name="TextBox 6"/>
            <p:cNvSpPr txBox="1"/>
            <p:nvPr/>
          </p:nvSpPr>
          <p:spPr>
            <a:xfrm>
              <a:off x="0" y="-19050"/>
              <a:ext cx="4063892" cy="609919"/>
            </a:xfrm>
            <a:prstGeom prst="rect">
              <a:avLst/>
            </a:prstGeom>
          </p:spPr>
          <p:txBody>
            <a:bodyPr lIns="21989" tIns="21989" rIns="21989" bIns="21989" rtlCol="0" anchor="ctr"/>
            <a:lstStyle/>
            <a:p>
              <a:pPr algn="ctr">
                <a:lnSpc>
                  <a:spcPts val="1211"/>
                </a:lnSpc>
                <a:spcBef>
                  <a:spcPct val="0"/>
                </a:spcBef>
              </a:pPr>
              <a:endParaRPr/>
            </a:p>
          </p:txBody>
        </p:sp>
      </p:grpSp>
      <p:grpSp>
        <p:nvGrpSpPr>
          <p:cNvPr id="7" name="Group 7"/>
          <p:cNvGrpSpPr/>
          <p:nvPr/>
        </p:nvGrpSpPr>
        <p:grpSpPr>
          <a:xfrm>
            <a:off x="6966873" y="-92849"/>
            <a:ext cx="6375772" cy="1051570"/>
            <a:chOff x="0" y="-171450"/>
            <a:chExt cx="8501029" cy="1402092"/>
          </a:xfrm>
        </p:grpSpPr>
        <p:sp>
          <p:nvSpPr>
            <p:cNvPr id="8" name="Freeform 8"/>
            <p:cNvSpPr/>
            <p:nvPr/>
          </p:nvSpPr>
          <p:spPr>
            <a:xfrm>
              <a:off x="0" y="360780"/>
              <a:ext cx="3472818" cy="648996"/>
            </a:xfrm>
            <a:custGeom>
              <a:avLst/>
              <a:gdLst/>
              <a:ahLst/>
              <a:cxnLst/>
              <a:rect l="l" t="t" r="r" b="b"/>
              <a:pathLst>
                <a:path w="3472818" h="648996">
                  <a:moveTo>
                    <a:pt x="0" y="0"/>
                  </a:moveTo>
                  <a:lnTo>
                    <a:pt x="3472818" y="0"/>
                  </a:lnTo>
                  <a:lnTo>
                    <a:pt x="3472818" y="648996"/>
                  </a:lnTo>
                  <a:lnTo>
                    <a:pt x="0" y="648996"/>
                  </a:lnTo>
                  <a:lnTo>
                    <a:pt x="0" y="0"/>
                  </a:lnTo>
                  <a:close/>
                </a:path>
              </a:pathLst>
            </a:custGeom>
            <a:blipFill>
              <a:blip r:embed="rId3"/>
              <a:stretch>
                <a:fillRect/>
              </a:stretch>
            </a:blipFill>
          </p:spPr>
        </p:sp>
        <p:sp>
          <p:nvSpPr>
            <p:cNvPr id="9" name="Freeform 9"/>
            <p:cNvSpPr/>
            <p:nvPr/>
          </p:nvSpPr>
          <p:spPr>
            <a:xfrm>
              <a:off x="3637511" y="383136"/>
              <a:ext cx="27617" cy="604284"/>
            </a:xfrm>
            <a:custGeom>
              <a:avLst/>
              <a:gdLst/>
              <a:ahLst/>
              <a:cxnLst/>
              <a:rect l="l" t="t" r="r" b="b"/>
              <a:pathLst>
                <a:path w="27617" h="604284">
                  <a:moveTo>
                    <a:pt x="0" y="0"/>
                  </a:moveTo>
                  <a:lnTo>
                    <a:pt x="27617" y="0"/>
                  </a:lnTo>
                  <a:lnTo>
                    <a:pt x="27617" y="604284"/>
                  </a:lnTo>
                  <a:lnTo>
                    <a:pt x="0" y="6042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3829651" y="191901"/>
              <a:ext cx="986753" cy="986753"/>
            </a:xfrm>
            <a:custGeom>
              <a:avLst/>
              <a:gdLst/>
              <a:ahLst/>
              <a:cxnLst/>
              <a:rect l="l" t="t" r="r" b="b"/>
              <a:pathLst>
                <a:path w="986753" h="986753">
                  <a:moveTo>
                    <a:pt x="0" y="0"/>
                  </a:moveTo>
                  <a:lnTo>
                    <a:pt x="986754" y="0"/>
                  </a:lnTo>
                  <a:lnTo>
                    <a:pt x="986754" y="986753"/>
                  </a:lnTo>
                  <a:lnTo>
                    <a:pt x="0" y="986753"/>
                  </a:lnTo>
                  <a:lnTo>
                    <a:pt x="0" y="0"/>
                  </a:lnTo>
                  <a:close/>
                </a:path>
              </a:pathLst>
            </a:custGeom>
            <a:blipFill>
              <a:blip r:embed="rId6"/>
              <a:stretch>
                <a:fillRect/>
              </a:stretch>
            </a:blipFill>
          </p:spPr>
        </p:sp>
        <p:sp>
          <p:nvSpPr>
            <p:cNvPr id="11" name="Freeform 11"/>
            <p:cNvSpPr/>
            <p:nvPr/>
          </p:nvSpPr>
          <p:spPr>
            <a:xfrm>
              <a:off x="5359221" y="475447"/>
              <a:ext cx="347458" cy="315418"/>
            </a:xfrm>
            <a:custGeom>
              <a:avLst/>
              <a:gdLst/>
              <a:ahLst/>
              <a:cxnLst/>
              <a:rect l="l" t="t" r="r" b="b"/>
              <a:pathLst>
                <a:path w="347458" h="315418">
                  <a:moveTo>
                    <a:pt x="0" y="0"/>
                  </a:moveTo>
                  <a:lnTo>
                    <a:pt x="347458" y="0"/>
                  </a:lnTo>
                  <a:lnTo>
                    <a:pt x="347458" y="315418"/>
                  </a:lnTo>
                  <a:lnTo>
                    <a:pt x="0" y="315418"/>
                  </a:lnTo>
                  <a:lnTo>
                    <a:pt x="0" y="0"/>
                  </a:lnTo>
                  <a:close/>
                </a:path>
              </a:pathLst>
            </a:custGeom>
            <a:blipFill>
              <a:blip r:embed="rId7"/>
              <a:stretch>
                <a:fillRect l="-42300" t="-25138" r="-41683" b="-77535"/>
              </a:stretch>
            </a:blipFill>
          </p:spPr>
        </p:sp>
        <p:sp>
          <p:nvSpPr>
            <p:cNvPr id="12" name="Freeform 12"/>
            <p:cNvSpPr/>
            <p:nvPr/>
          </p:nvSpPr>
          <p:spPr>
            <a:xfrm>
              <a:off x="7364387" y="475447"/>
              <a:ext cx="1136642" cy="315418"/>
            </a:xfrm>
            <a:custGeom>
              <a:avLst/>
              <a:gdLst/>
              <a:ahLst/>
              <a:cxnLst/>
              <a:rect l="l" t="t" r="r" b="b"/>
              <a:pathLst>
                <a:path w="1136642" h="315418">
                  <a:moveTo>
                    <a:pt x="0" y="0"/>
                  </a:moveTo>
                  <a:lnTo>
                    <a:pt x="1136642" y="0"/>
                  </a:lnTo>
                  <a:lnTo>
                    <a:pt x="1136642" y="315418"/>
                  </a:lnTo>
                  <a:lnTo>
                    <a:pt x="0" y="31541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TextBox 13"/>
            <p:cNvSpPr txBox="1"/>
            <p:nvPr/>
          </p:nvSpPr>
          <p:spPr>
            <a:xfrm>
              <a:off x="5690761" y="472008"/>
              <a:ext cx="906511" cy="205184"/>
            </a:xfrm>
            <a:prstGeom prst="rect">
              <a:avLst/>
            </a:prstGeom>
          </p:spPr>
          <p:txBody>
            <a:bodyPr lIns="0" tIns="0" rIns="0" bIns="0" rtlCol="0" anchor="t">
              <a:spAutoFit/>
            </a:bodyPr>
            <a:lstStyle/>
            <a:p>
              <a:pPr algn="ctr">
                <a:lnSpc>
                  <a:spcPts val="1166"/>
                </a:lnSpc>
                <a:spcBef>
                  <a:spcPct val="0"/>
                </a:spcBef>
              </a:pPr>
              <a:r>
                <a:rPr lang="en-US" sz="833" b="1" spc="80">
                  <a:solidFill>
                    <a:srgbClr val="014B9E"/>
                  </a:solidFill>
                  <a:latin typeface="Calibri (MS) Bold"/>
                  <a:ea typeface="Calibri (MS) Bold"/>
                  <a:cs typeface="Calibri (MS) Bold"/>
                  <a:sym typeface="Calibri (MS) Bold"/>
                </a:rPr>
                <a:t>CHARUSAT </a:t>
              </a:r>
            </a:p>
          </p:txBody>
        </p:sp>
        <p:sp>
          <p:nvSpPr>
            <p:cNvPr id="14" name="TextBox 14"/>
            <p:cNvSpPr txBox="1"/>
            <p:nvPr/>
          </p:nvSpPr>
          <p:spPr>
            <a:xfrm>
              <a:off x="5665146" y="595056"/>
              <a:ext cx="1424555" cy="205184"/>
            </a:xfrm>
            <a:prstGeom prst="rect">
              <a:avLst/>
            </a:prstGeom>
          </p:spPr>
          <p:txBody>
            <a:bodyPr lIns="0" tIns="0" rIns="0" bIns="0" rtlCol="0" anchor="t">
              <a:spAutoFit/>
            </a:bodyPr>
            <a:lstStyle/>
            <a:p>
              <a:pPr algn="ctr">
                <a:lnSpc>
                  <a:spcPts val="1236"/>
                </a:lnSpc>
                <a:spcBef>
                  <a:spcPct val="0"/>
                </a:spcBef>
              </a:pPr>
              <a:r>
                <a:rPr lang="en-US" sz="882" b="1">
                  <a:solidFill>
                    <a:srgbClr val="E96D06"/>
                  </a:solidFill>
                  <a:latin typeface="Calibri (MS) Bold"/>
                  <a:ea typeface="Calibri (MS) Bold"/>
                  <a:cs typeface="Calibri (MS) Bold"/>
                  <a:sym typeface="Calibri (MS) Bold"/>
                </a:rPr>
                <a:t>IEEE</a:t>
              </a:r>
              <a:r>
                <a:rPr lang="en-US" sz="882">
                  <a:solidFill>
                    <a:srgbClr val="E96D06"/>
                  </a:solidFill>
                  <a:latin typeface="Calibri (MS)"/>
                  <a:ea typeface="Calibri (MS)"/>
                  <a:cs typeface="Calibri (MS)"/>
                  <a:sym typeface="Calibri (MS)"/>
                </a:rPr>
                <a:t> Student Branch</a:t>
              </a:r>
            </a:p>
          </p:txBody>
        </p:sp>
        <p:sp>
          <p:nvSpPr>
            <p:cNvPr id="15" name="TextBox 15"/>
            <p:cNvSpPr txBox="1"/>
            <p:nvPr/>
          </p:nvSpPr>
          <p:spPr>
            <a:xfrm>
              <a:off x="7047564" y="-171450"/>
              <a:ext cx="242952" cy="1402092"/>
            </a:xfrm>
            <a:prstGeom prst="rect">
              <a:avLst/>
            </a:prstGeom>
          </p:spPr>
          <p:txBody>
            <a:bodyPr lIns="0" tIns="0" rIns="0" bIns="0" rtlCol="0" anchor="t">
              <a:spAutoFit/>
            </a:bodyPr>
            <a:lstStyle/>
            <a:p>
              <a:pPr algn="ctr">
                <a:lnSpc>
                  <a:spcPts val="8165"/>
                </a:lnSpc>
                <a:spcBef>
                  <a:spcPct val="0"/>
                </a:spcBef>
              </a:pPr>
              <a:r>
                <a:rPr lang="en-US" sz="5832" spc="-233">
                  <a:solidFill>
                    <a:srgbClr val="A6A6A6"/>
                  </a:solidFill>
                  <a:latin typeface="Bodoni FLF"/>
                  <a:ea typeface="Bodoni FLF"/>
                  <a:cs typeface="Bodoni FLF"/>
                  <a:sym typeface="Bodoni FLF"/>
                </a:rPr>
                <a:t>|</a:t>
              </a:r>
            </a:p>
          </p:txBody>
        </p:sp>
        <p:sp>
          <p:nvSpPr>
            <p:cNvPr id="16" name="TextBox 16"/>
            <p:cNvSpPr txBox="1"/>
            <p:nvPr/>
          </p:nvSpPr>
          <p:spPr>
            <a:xfrm>
              <a:off x="5411842" y="1003636"/>
              <a:ext cx="2876359" cy="136789"/>
            </a:xfrm>
            <a:prstGeom prst="rect">
              <a:avLst/>
            </a:prstGeom>
          </p:spPr>
          <p:txBody>
            <a:bodyPr lIns="0" tIns="0" rIns="0" bIns="0" rtlCol="0" anchor="t">
              <a:spAutoFit/>
            </a:bodyPr>
            <a:lstStyle/>
            <a:p>
              <a:pPr algn="ctr">
                <a:lnSpc>
                  <a:spcPts val="849"/>
                </a:lnSpc>
                <a:spcBef>
                  <a:spcPct val="0"/>
                </a:spcBef>
              </a:pPr>
              <a:r>
                <a:rPr lang="en-US" sz="606" b="1" spc="27">
                  <a:solidFill>
                    <a:srgbClr val="014B9E"/>
                  </a:solidFill>
                  <a:latin typeface="Calibri (MS) Bold"/>
                  <a:ea typeface="Calibri (MS) Bold"/>
                  <a:cs typeface="Calibri (MS) Bold"/>
                  <a:sym typeface="Calibri (MS) Bold"/>
                </a:rPr>
                <a:t>“A Student Chapter of the IEEE Circuits and Systems Society“</a:t>
              </a:r>
            </a:p>
          </p:txBody>
        </p:sp>
        <p:sp>
          <p:nvSpPr>
            <p:cNvPr id="17" name="Freeform 17"/>
            <p:cNvSpPr/>
            <p:nvPr/>
          </p:nvSpPr>
          <p:spPr>
            <a:xfrm>
              <a:off x="4975662" y="383136"/>
              <a:ext cx="27617" cy="604284"/>
            </a:xfrm>
            <a:custGeom>
              <a:avLst/>
              <a:gdLst/>
              <a:ahLst/>
              <a:cxnLst/>
              <a:rect l="l" t="t" r="r" b="b"/>
              <a:pathLst>
                <a:path w="27617" h="604284">
                  <a:moveTo>
                    <a:pt x="0" y="0"/>
                  </a:moveTo>
                  <a:lnTo>
                    <a:pt x="27617" y="0"/>
                  </a:lnTo>
                  <a:lnTo>
                    <a:pt x="27617" y="604284"/>
                  </a:lnTo>
                  <a:lnTo>
                    <a:pt x="0" y="60428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grpSp>
        <p:nvGrpSpPr>
          <p:cNvPr id="18" name="Group 18"/>
          <p:cNvGrpSpPr/>
          <p:nvPr/>
        </p:nvGrpSpPr>
        <p:grpSpPr>
          <a:xfrm>
            <a:off x="245268" y="1325751"/>
            <a:ext cx="19583400" cy="1420200"/>
            <a:chOff x="0" y="0"/>
            <a:chExt cx="7294994" cy="534681"/>
          </a:xfrm>
        </p:grpSpPr>
        <p:sp>
          <p:nvSpPr>
            <p:cNvPr id="19" name="Freeform 19"/>
            <p:cNvSpPr/>
            <p:nvPr/>
          </p:nvSpPr>
          <p:spPr>
            <a:xfrm>
              <a:off x="0" y="0"/>
              <a:ext cx="7294994" cy="534681"/>
            </a:xfrm>
            <a:custGeom>
              <a:avLst/>
              <a:gdLst/>
              <a:ahLst/>
              <a:cxnLst/>
              <a:rect l="l" t="t" r="r" b="b"/>
              <a:pathLst>
                <a:path w="7294994" h="534681">
                  <a:moveTo>
                    <a:pt x="1345" y="0"/>
                  </a:moveTo>
                  <a:lnTo>
                    <a:pt x="7293649" y="0"/>
                  </a:lnTo>
                  <a:cubicBezTo>
                    <a:pt x="7294392" y="0"/>
                    <a:pt x="7294994" y="602"/>
                    <a:pt x="7294994" y="1345"/>
                  </a:cubicBezTo>
                  <a:lnTo>
                    <a:pt x="7294994" y="533336"/>
                  </a:lnTo>
                  <a:cubicBezTo>
                    <a:pt x="7294994" y="533693"/>
                    <a:pt x="7294852" y="534035"/>
                    <a:pt x="7294600" y="534287"/>
                  </a:cubicBezTo>
                  <a:cubicBezTo>
                    <a:pt x="7294349" y="534539"/>
                    <a:pt x="7294006" y="534681"/>
                    <a:pt x="7293649" y="534681"/>
                  </a:cubicBezTo>
                  <a:lnTo>
                    <a:pt x="1345" y="534681"/>
                  </a:lnTo>
                  <a:cubicBezTo>
                    <a:pt x="988" y="534681"/>
                    <a:pt x="646" y="534539"/>
                    <a:pt x="394" y="534287"/>
                  </a:cubicBezTo>
                  <a:cubicBezTo>
                    <a:pt x="142" y="534035"/>
                    <a:pt x="0" y="533693"/>
                    <a:pt x="0" y="533336"/>
                  </a:cubicBezTo>
                  <a:lnTo>
                    <a:pt x="0" y="1345"/>
                  </a:lnTo>
                  <a:cubicBezTo>
                    <a:pt x="0" y="988"/>
                    <a:pt x="142" y="646"/>
                    <a:pt x="394" y="394"/>
                  </a:cubicBezTo>
                  <a:cubicBezTo>
                    <a:pt x="646" y="142"/>
                    <a:pt x="988" y="0"/>
                    <a:pt x="1345" y="0"/>
                  </a:cubicBezTo>
                  <a:close/>
                </a:path>
              </a:pathLst>
            </a:custGeom>
            <a:solidFill>
              <a:srgbClr val="FFFFFF"/>
            </a:solidFill>
          </p:spPr>
        </p:sp>
        <p:sp>
          <p:nvSpPr>
            <p:cNvPr id="20" name="TextBox 20"/>
            <p:cNvSpPr txBox="1"/>
            <p:nvPr/>
          </p:nvSpPr>
          <p:spPr>
            <a:xfrm>
              <a:off x="0" y="-28575"/>
              <a:ext cx="7294994" cy="563256"/>
            </a:xfrm>
            <a:prstGeom prst="rect">
              <a:avLst/>
            </a:prstGeom>
          </p:spPr>
          <p:txBody>
            <a:bodyPr lIns="25953" tIns="25953" rIns="25953" bIns="25953" rtlCol="0" anchor="ctr"/>
            <a:lstStyle/>
            <a:p>
              <a:pPr algn="ctr">
                <a:lnSpc>
                  <a:spcPts val="1430"/>
                </a:lnSpc>
              </a:pPr>
              <a:endParaRPr/>
            </a:p>
          </p:txBody>
        </p:sp>
      </p:grpSp>
      <p:grpSp>
        <p:nvGrpSpPr>
          <p:cNvPr id="21" name="Group 21"/>
          <p:cNvGrpSpPr/>
          <p:nvPr/>
        </p:nvGrpSpPr>
        <p:grpSpPr>
          <a:xfrm>
            <a:off x="10151382" y="6433504"/>
            <a:ext cx="9679886" cy="3980390"/>
            <a:chOff x="0" y="-118175"/>
            <a:chExt cx="3625354" cy="2382565"/>
          </a:xfrm>
        </p:grpSpPr>
        <p:sp>
          <p:nvSpPr>
            <p:cNvPr id="22" name="Freeform 22"/>
            <p:cNvSpPr/>
            <p:nvPr/>
          </p:nvSpPr>
          <p:spPr>
            <a:xfrm>
              <a:off x="0" y="-118175"/>
              <a:ext cx="3625354" cy="2378626"/>
            </a:xfrm>
            <a:custGeom>
              <a:avLst/>
              <a:gdLst/>
              <a:ahLst/>
              <a:cxnLst/>
              <a:rect l="l" t="t" r="r" b="b"/>
              <a:pathLst>
                <a:path w="3625354" h="2264390">
                  <a:moveTo>
                    <a:pt x="2118" y="0"/>
                  </a:moveTo>
                  <a:lnTo>
                    <a:pt x="3623235" y="0"/>
                  </a:lnTo>
                  <a:cubicBezTo>
                    <a:pt x="3624406" y="0"/>
                    <a:pt x="3625354" y="948"/>
                    <a:pt x="3625354" y="2118"/>
                  </a:cubicBezTo>
                  <a:lnTo>
                    <a:pt x="3625354" y="2262271"/>
                  </a:lnTo>
                  <a:cubicBezTo>
                    <a:pt x="3625354" y="2262833"/>
                    <a:pt x="3625131" y="2263372"/>
                    <a:pt x="3624733" y="2263769"/>
                  </a:cubicBezTo>
                  <a:cubicBezTo>
                    <a:pt x="3624336" y="2264166"/>
                    <a:pt x="3623797" y="2264390"/>
                    <a:pt x="3623235" y="2264390"/>
                  </a:cubicBezTo>
                  <a:lnTo>
                    <a:pt x="2118" y="2264390"/>
                  </a:lnTo>
                  <a:cubicBezTo>
                    <a:pt x="948" y="2264390"/>
                    <a:pt x="0" y="2263441"/>
                    <a:pt x="0" y="2262271"/>
                  </a:cubicBezTo>
                  <a:lnTo>
                    <a:pt x="0" y="2118"/>
                  </a:lnTo>
                  <a:cubicBezTo>
                    <a:pt x="0" y="948"/>
                    <a:pt x="948" y="0"/>
                    <a:pt x="2118" y="0"/>
                  </a:cubicBezTo>
                  <a:close/>
                </a:path>
              </a:pathLst>
            </a:custGeom>
            <a:solidFill>
              <a:srgbClr val="FFFFFF"/>
            </a:solidFill>
          </p:spPr>
        </p:sp>
        <p:sp>
          <p:nvSpPr>
            <p:cNvPr id="23" name="TextBox 23"/>
            <p:cNvSpPr txBox="1"/>
            <p:nvPr/>
          </p:nvSpPr>
          <p:spPr>
            <a:xfrm>
              <a:off x="0" y="-28575"/>
              <a:ext cx="3625354" cy="2292965"/>
            </a:xfrm>
            <a:prstGeom prst="rect">
              <a:avLst/>
            </a:prstGeom>
          </p:spPr>
          <p:txBody>
            <a:bodyPr lIns="25953" tIns="25953" rIns="25953" bIns="25953" rtlCol="0" anchor="ctr"/>
            <a:lstStyle/>
            <a:p>
              <a:pPr algn="ctr">
                <a:lnSpc>
                  <a:spcPts val="1430"/>
                </a:lnSpc>
              </a:pPr>
              <a:endParaRPr/>
            </a:p>
          </p:txBody>
        </p:sp>
      </p:grpSp>
      <p:grpSp>
        <p:nvGrpSpPr>
          <p:cNvPr id="24" name="Group 24"/>
          <p:cNvGrpSpPr/>
          <p:nvPr/>
        </p:nvGrpSpPr>
        <p:grpSpPr>
          <a:xfrm>
            <a:off x="245267" y="14163390"/>
            <a:ext cx="19583401" cy="949607"/>
            <a:chOff x="0" y="0"/>
            <a:chExt cx="7310739" cy="738278"/>
          </a:xfrm>
        </p:grpSpPr>
        <p:sp>
          <p:nvSpPr>
            <p:cNvPr id="25" name="Freeform 25"/>
            <p:cNvSpPr/>
            <p:nvPr/>
          </p:nvSpPr>
          <p:spPr>
            <a:xfrm>
              <a:off x="0" y="0"/>
              <a:ext cx="7310739" cy="738278"/>
            </a:xfrm>
            <a:custGeom>
              <a:avLst/>
              <a:gdLst/>
              <a:ahLst/>
              <a:cxnLst/>
              <a:rect l="l" t="t" r="r" b="b"/>
              <a:pathLst>
                <a:path w="7310739" h="738278">
                  <a:moveTo>
                    <a:pt x="1050" y="0"/>
                  </a:moveTo>
                  <a:lnTo>
                    <a:pt x="7309689" y="0"/>
                  </a:lnTo>
                  <a:cubicBezTo>
                    <a:pt x="7309967" y="0"/>
                    <a:pt x="7310234" y="111"/>
                    <a:pt x="7310431" y="308"/>
                  </a:cubicBezTo>
                  <a:cubicBezTo>
                    <a:pt x="7310628" y="505"/>
                    <a:pt x="7310739" y="772"/>
                    <a:pt x="7310739" y="1050"/>
                  </a:cubicBezTo>
                  <a:lnTo>
                    <a:pt x="7310739" y="737228"/>
                  </a:lnTo>
                  <a:cubicBezTo>
                    <a:pt x="7310739" y="737506"/>
                    <a:pt x="7310628" y="737774"/>
                    <a:pt x="7310431" y="737971"/>
                  </a:cubicBezTo>
                  <a:cubicBezTo>
                    <a:pt x="7310234" y="738168"/>
                    <a:pt x="7309967" y="738278"/>
                    <a:pt x="7309689" y="738278"/>
                  </a:cubicBezTo>
                  <a:lnTo>
                    <a:pt x="1050" y="738278"/>
                  </a:lnTo>
                  <a:cubicBezTo>
                    <a:pt x="772" y="738278"/>
                    <a:pt x="505" y="738168"/>
                    <a:pt x="308" y="737971"/>
                  </a:cubicBezTo>
                  <a:cubicBezTo>
                    <a:pt x="111" y="737774"/>
                    <a:pt x="0" y="737506"/>
                    <a:pt x="0" y="737228"/>
                  </a:cubicBezTo>
                  <a:lnTo>
                    <a:pt x="0" y="1050"/>
                  </a:lnTo>
                  <a:cubicBezTo>
                    <a:pt x="0" y="772"/>
                    <a:pt x="111" y="505"/>
                    <a:pt x="308" y="308"/>
                  </a:cubicBezTo>
                  <a:cubicBezTo>
                    <a:pt x="505" y="111"/>
                    <a:pt x="772" y="0"/>
                    <a:pt x="1050" y="0"/>
                  </a:cubicBezTo>
                  <a:close/>
                </a:path>
              </a:pathLst>
            </a:custGeom>
            <a:solidFill>
              <a:srgbClr val="FFFFFF"/>
            </a:solidFill>
          </p:spPr>
        </p:sp>
        <p:sp>
          <p:nvSpPr>
            <p:cNvPr id="26" name="TextBox 26"/>
            <p:cNvSpPr txBox="1"/>
            <p:nvPr/>
          </p:nvSpPr>
          <p:spPr>
            <a:xfrm>
              <a:off x="0" y="-28575"/>
              <a:ext cx="7310739" cy="766853"/>
            </a:xfrm>
            <a:prstGeom prst="rect">
              <a:avLst/>
            </a:prstGeom>
          </p:spPr>
          <p:txBody>
            <a:bodyPr lIns="25953" tIns="25953" rIns="25953" bIns="25953" rtlCol="0" anchor="ctr"/>
            <a:lstStyle/>
            <a:p>
              <a:pPr algn="ctr">
                <a:lnSpc>
                  <a:spcPts val="1430"/>
                </a:lnSpc>
              </a:pPr>
              <a:endParaRPr/>
            </a:p>
          </p:txBody>
        </p:sp>
      </p:grpSp>
      <p:grpSp>
        <p:nvGrpSpPr>
          <p:cNvPr id="27" name="Group 27"/>
          <p:cNvGrpSpPr/>
          <p:nvPr/>
        </p:nvGrpSpPr>
        <p:grpSpPr>
          <a:xfrm>
            <a:off x="228604" y="4826733"/>
            <a:ext cx="9751662" cy="2500790"/>
            <a:chOff x="0" y="0"/>
            <a:chExt cx="3603211" cy="1111321"/>
          </a:xfrm>
        </p:grpSpPr>
        <p:sp>
          <p:nvSpPr>
            <p:cNvPr id="28" name="Freeform 28"/>
            <p:cNvSpPr/>
            <p:nvPr/>
          </p:nvSpPr>
          <p:spPr>
            <a:xfrm>
              <a:off x="0" y="0"/>
              <a:ext cx="3603211" cy="1111321"/>
            </a:xfrm>
            <a:custGeom>
              <a:avLst/>
              <a:gdLst/>
              <a:ahLst/>
              <a:cxnLst/>
              <a:rect l="l" t="t" r="r" b="b"/>
              <a:pathLst>
                <a:path w="3603211" h="1111321">
                  <a:moveTo>
                    <a:pt x="2131" y="0"/>
                  </a:moveTo>
                  <a:lnTo>
                    <a:pt x="3601079" y="0"/>
                  </a:lnTo>
                  <a:cubicBezTo>
                    <a:pt x="3601645" y="0"/>
                    <a:pt x="3602187" y="225"/>
                    <a:pt x="3602586" y="624"/>
                  </a:cubicBezTo>
                  <a:cubicBezTo>
                    <a:pt x="3602986" y="1024"/>
                    <a:pt x="3603211" y="1566"/>
                    <a:pt x="3603211" y="2131"/>
                  </a:cubicBezTo>
                  <a:lnTo>
                    <a:pt x="3603211" y="1109190"/>
                  </a:lnTo>
                  <a:cubicBezTo>
                    <a:pt x="3603211" y="1110367"/>
                    <a:pt x="3602256" y="1111321"/>
                    <a:pt x="3601079" y="1111321"/>
                  </a:cubicBezTo>
                  <a:lnTo>
                    <a:pt x="2131" y="1111321"/>
                  </a:lnTo>
                  <a:cubicBezTo>
                    <a:pt x="1566" y="1111321"/>
                    <a:pt x="1024" y="1111097"/>
                    <a:pt x="624" y="1110697"/>
                  </a:cubicBezTo>
                  <a:cubicBezTo>
                    <a:pt x="225" y="1110297"/>
                    <a:pt x="0" y="1109755"/>
                    <a:pt x="0" y="1109190"/>
                  </a:cubicBezTo>
                  <a:lnTo>
                    <a:pt x="0" y="2131"/>
                  </a:lnTo>
                  <a:cubicBezTo>
                    <a:pt x="0" y="1566"/>
                    <a:pt x="225" y="1024"/>
                    <a:pt x="624" y="624"/>
                  </a:cubicBezTo>
                  <a:cubicBezTo>
                    <a:pt x="1024" y="225"/>
                    <a:pt x="1566" y="0"/>
                    <a:pt x="2131" y="0"/>
                  </a:cubicBezTo>
                  <a:close/>
                </a:path>
              </a:pathLst>
            </a:custGeom>
            <a:solidFill>
              <a:srgbClr val="FFFFFF"/>
            </a:solidFill>
          </p:spPr>
        </p:sp>
        <p:sp>
          <p:nvSpPr>
            <p:cNvPr id="29" name="TextBox 29"/>
            <p:cNvSpPr txBox="1"/>
            <p:nvPr/>
          </p:nvSpPr>
          <p:spPr>
            <a:xfrm>
              <a:off x="0" y="-28575"/>
              <a:ext cx="3603211" cy="1139896"/>
            </a:xfrm>
            <a:prstGeom prst="rect">
              <a:avLst/>
            </a:prstGeom>
          </p:spPr>
          <p:txBody>
            <a:bodyPr lIns="25953" tIns="25953" rIns="25953" bIns="25953" rtlCol="0" anchor="ctr"/>
            <a:lstStyle/>
            <a:p>
              <a:pPr algn="ctr">
                <a:lnSpc>
                  <a:spcPts val="1430"/>
                </a:lnSpc>
              </a:pPr>
              <a:endParaRPr/>
            </a:p>
          </p:txBody>
        </p:sp>
      </p:grpSp>
      <p:sp>
        <p:nvSpPr>
          <p:cNvPr id="30" name="TextBox 30"/>
          <p:cNvSpPr txBox="1"/>
          <p:nvPr/>
        </p:nvSpPr>
        <p:spPr>
          <a:xfrm>
            <a:off x="293063" y="4810609"/>
            <a:ext cx="1716774" cy="361125"/>
          </a:xfrm>
          <a:prstGeom prst="rect">
            <a:avLst/>
          </a:prstGeom>
        </p:spPr>
        <p:txBody>
          <a:bodyPr wrap="square" lIns="0" tIns="0" rIns="0" bIns="0" rtlCol="0" anchor="t">
            <a:spAutoFit/>
          </a:bodyPr>
          <a:lstStyle/>
          <a:p>
            <a:pPr algn="ctr">
              <a:lnSpc>
                <a:spcPts val="3003"/>
              </a:lnSpc>
            </a:pPr>
            <a:r>
              <a:rPr lang="en-US" sz="2145" b="1" dirty="0">
                <a:solidFill>
                  <a:srgbClr val="014B9E"/>
                </a:solidFill>
                <a:latin typeface="Calibri (MS) Bold"/>
                <a:ea typeface="Calibri (MS) Bold"/>
                <a:cs typeface="Calibri (MS) Bold"/>
                <a:sym typeface="Calibri (MS) Bold"/>
              </a:rPr>
              <a:t>2. Introduction</a:t>
            </a:r>
          </a:p>
        </p:txBody>
      </p:sp>
      <p:grpSp>
        <p:nvGrpSpPr>
          <p:cNvPr id="31" name="Group 31"/>
          <p:cNvGrpSpPr/>
          <p:nvPr/>
        </p:nvGrpSpPr>
        <p:grpSpPr>
          <a:xfrm>
            <a:off x="228872" y="7497498"/>
            <a:ext cx="9780343" cy="6555735"/>
            <a:chOff x="0" y="0"/>
            <a:chExt cx="3603211" cy="1857215"/>
          </a:xfrm>
        </p:grpSpPr>
        <p:sp>
          <p:nvSpPr>
            <p:cNvPr id="32" name="Freeform 32"/>
            <p:cNvSpPr/>
            <p:nvPr/>
          </p:nvSpPr>
          <p:spPr>
            <a:xfrm>
              <a:off x="0" y="0"/>
              <a:ext cx="3603211" cy="1857215"/>
            </a:xfrm>
            <a:custGeom>
              <a:avLst/>
              <a:gdLst/>
              <a:ahLst/>
              <a:cxnLst/>
              <a:rect l="l" t="t" r="r" b="b"/>
              <a:pathLst>
                <a:path w="3603211" h="1857215">
                  <a:moveTo>
                    <a:pt x="2131" y="0"/>
                  </a:moveTo>
                  <a:lnTo>
                    <a:pt x="3601079" y="0"/>
                  </a:lnTo>
                  <a:cubicBezTo>
                    <a:pt x="3601645" y="0"/>
                    <a:pt x="3602187" y="225"/>
                    <a:pt x="3602586" y="624"/>
                  </a:cubicBezTo>
                  <a:cubicBezTo>
                    <a:pt x="3602986" y="1024"/>
                    <a:pt x="3603211" y="1566"/>
                    <a:pt x="3603211" y="2131"/>
                  </a:cubicBezTo>
                  <a:lnTo>
                    <a:pt x="3603211" y="1855083"/>
                  </a:lnTo>
                  <a:cubicBezTo>
                    <a:pt x="3603211" y="1856260"/>
                    <a:pt x="3602256" y="1857215"/>
                    <a:pt x="3601079" y="1857215"/>
                  </a:cubicBezTo>
                  <a:lnTo>
                    <a:pt x="2131" y="1857215"/>
                  </a:lnTo>
                  <a:cubicBezTo>
                    <a:pt x="1566" y="1857215"/>
                    <a:pt x="1024" y="1856990"/>
                    <a:pt x="624" y="1856590"/>
                  </a:cubicBezTo>
                  <a:cubicBezTo>
                    <a:pt x="225" y="1856191"/>
                    <a:pt x="0" y="1855648"/>
                    <a:pt x="0" y="1855083"/>
                  </a:cubicBezTo>
                  <a:lnTo>
                    <a:pt x="0" y="2131"/>
                  </a:lnTo>
                  <a:cubicBezTo>
                    <a:pt x="0" y="1566"/>
                    <a:pt x="225" y="1024"/>
                    <a:pt x="624" y="624"/>
                  </a:cubicBezTo>
                  <a:cubicBezTo>
                    <a:pt x="1024" y="225"/>
                    <a:pt x="1566" y="0"/>
                    <a:pt x="2131" y="0"/>
                  </a:cubicBezTo>
                  <a:close/>
                </a:path>
              </a:pathLst>
            </a:custGeom>
            <a:solidFill>
              <a:srgbClr val="FFFFFF"/>
            </a:solidFill>
          </p:spPr>
        </p:sp>
        <p:sp>
          <p:nvSpPr>
            <p:cNvPr id="33" name="TextBox 33"/>
            <p:cNvSpPr txBox="1"/>
            <p:nvPr/>
          </p:nvSpPr>
          <p:spPr>
            <a:xfrm>
              <a:off x="0" y="-28575"/>
              <a:ext cx="3603211" cy="1885790"/>
            </a:xfrm>
            <a:prstGeom prst="rect">
              <a:avLst/>
            </a:prstGeom>
          </p:spPr>
          <p:txBody>
            <a:bodyPr lIns="25953" tIns="25953" rIns="25953" bIns="25953" rtlCol="0" anchor="ctr"/>
            <a:lstStyle/>
            <a:p>
              <a:pPr algn="ctr">
                <a:lnSpc>
                  <a:spcPts val="1430"/>
                </a:lnSpc>
              </a:pPr>
              <a:endParaRPr/>
            </a:p>
          </p:txBody>
        </p:sp>
      </p:grpSp>
      <p:grpSp>
        <p:nvGrpSpPr>
          <p:cNvPr id="34" name="Group 34"/>
          <p:cNvGrpSpPr/>
          <p:nvPr/>
        </p:nvGrpSpPr>
        <p:grpSpPr>
          <a:xfrm>
            <a:off x="236932" y="3017921"/>
            <a:ext cx="9743812" cy="1691796"/>
            <a:chOff x="0" y="0"/>
            <a:chExt cx="3603211" cy="561538"/>
          </a:xfrm>
        </p:grpSpPr>
        <p:sp>
          <p:nvSpPr>
            <p:cNvPr id="35" name="Freeform 35"/>
            <p:cNvSpPr/>
            <p:nvPr/>
          </p:nvSpPr>
          <p:spPr>
            <a:xfrm>
              <a:off x="0" y="0"/>
              <a:ext cx="3603211" cy="561538"/>
            </a:xfrm>
            <a:custGeom>
              <a:avLst/>
              <a:gdLst/>
              <a:ahLst/>
              <a:cxnLst/>
              <a:rect l="l" t="t" r="r" b="b"/>
              <a:pathLst>
                <a:path w="3603211" h="561538">
                  <a:moveTo>
                    <a:pt x="2131" y="0"/>
                  </a:moveTo>
                  <a:lnTo>
                    <a:pt x="3601079" y="0"/>
                  </a:lnTo>
                  <a:cubicBezTo>
                    <a:pt x="3601645" y="0"/>
                    <a:pt x="3602187" y="225"/>
                    <a:pt x="3602586" y="624"/>
                  </a:cubicBezTo>
                  <a:cubicBezTo>
                    <a:pt x="3602986" y="1024"/>
                    <a:pt x="3603211" y="1566"/>
                    <a:pt x="3603211" y="2131"/>
                  </a:cubicBezTo>
                  <a:lnTo>
                    <a:pt x="3603211" y="559406"/>
                  </a:lnTo>
                  <a:cubicBezTo>
                    <a:pt x="3603211" y="559971"/>
                    <a:pt x="3602986" y="560514"/>
                    <a:pt x="3602586" y="560913"/>
                  </a:cubicBezTo>
                  <a:cubicBezTo>
                    <a:pt x="3602187" y="561313"/>
                    <a:pt x="3601645" y="561538"/>
                    <a:pt x="3601079" y="561538"/>
                  </a:cubicBezTo>
                  <a:lnTo>
                    <a:pt x="2131" y="561538"/>
                  </a:lnTo>
                  <a:cubicBezTo>
                    <a:pt x="954" y="561538"/>
                    <a:pt x="0" y="560583"/>
                    <a:pt x="0" y="559406"/>
                  </a:cubicBezTo>
                  <a:lnTo>
                    <a:pt x="0" y="2131"/>
                  </a:lnTo>
                  <a:cubicBezTo>
                    <a:pt x="0" y="1566"/>
                    <a:pt x="225" y="1024"/>
                    <a:pt x="624" y="624"/>
                  </a:cubicBezTo>
                  <a:cubicBezTo>
                    <a:pt x="1024" y="225"/>
                    <a:pt x="1566" y="0"/>
                    <a:pt x="2131" y="0"/>
                  </a:cubicBezTo>
                  <a:close/>
                </a:path>
              </a:pathLst>
            </a:custGeom>
            <a:solidFill>
              <a:srgbClr val="FFFFFF"/>
            </a:solidFill>
          </p:spPr>
        </p:sp>
        <p:sp>
          <p:nvSpPr>
            <p:cNvPr id="36" name="TextBox 36"/>
            <p:cNvSpPr txBox="1"/>
            <p:nvPr/>
          </p:nvSpPr>
          <p:spPr>
            <a:xfrm>
              <a:off x="0" y="-28575"/>
              <a:ext cx="3603211" cy="590113"/>
            </a:xfrm>
            <a:prstGeom prst="rect">
              <a:avLst/>
            </a:prstGeom>
          </p:spPr>
          <p:txBody>
            <a:bodyPr lIns="25953" tIns="25953" rIns="25953" bIns="25953" rtlCol="0" anchor="ctr"/>
            <a:lstStyle/>
            <a:p>
              <a:pPr algn="ctr">
                <a:lnSpc>
                  <a:spcPts val="1430"/>
                </a:lnSpc>
              </a:pPr>
              <a:endParaRPr/>
            </a:p>
          </p:txBody>
        </p:sp>
      </p:grpSp>
      <p:sp>
        <p:nvSpPr>
          <p:cNvPr id="37" name="TextBox 37"/>
          <p:cNvSpPr txBox="1"/>
          <p:nvPr/>
        </p:nvSpPr>
        <p:spPr>
          <a:xfrm>
            <a:off x="346065" y="3032670"/>
            <a:ext cx="1283432" cy="384721"/>
          </a:xfrm>
          <a:prstGeom prst="rect">
            <a:avLst/>
          </a:prstGeom>
        </p:spPr>
        <p:txBody>
          <a:bodyPr lIns="0" tIns="0" rIns="0" bIns="0" rtlCol="0" anchor="t">
            <a:spAutoFit/>
          </a:bodyPr>
          <a:lstStyle/>
          <a:p>
            <a:pPr algn="ctr">
              <a:lnSpc>
                <a:spcPts val="3003"/>
              </a:lnSpc>
            </a:pPr>
            <a:r>
              <a:rPr lang="en-US" sz="2145" b="1" dirty="0">
                <a:solidFill>
                  <a:srgbClr val="014B9E"/>
                </a:solidFill>
                <a:latin typeface="Calibri (MS) Bold"/>
                <a:ea typeface="Calibri (MS) Bold"/>
                <a:cs typeface="Calibri (MS) Bold"/>
                <a:sym typeface="Calibri (MS) Bold"/>
              </a:rPr>
              <a:t>1.Objective</a:t>
            </a:r>
          </a:p>
        </p:txBody>
      </p:sp>
      <p:sp>
        <p:nvSpPr>
          <p:cNvPr id="38" name="TextBox 38"/>
          <p:cNvSpPr txBox="1"/>
          <p:nvPr/>
        </p:nvSpPr>
        <p:spPr>
          <a:xfrm>
            <a:off x="237568" y="7436406"/>
            <a:ext cx="1796982" cy="384721"/>
          </a:xfrm>
          <a:prstGeom prst="rect">
            <a:avLst/>
          </a:prstGeom>
        </p:spPr>
        <p:txBody>
          <a:bodyPr lIns="0" tIns="0" rIns="0" bIns="0" rtlCol="0" anchor="t">
            <a:spAutoFit/>
          </a:bodyPr>
          <a:lstStyle/>
          <a:p>
            <a:pPr algn="ctr">
              <a:lnSpc>
                <a:spcPts val="3003"/>
              </a:lnSpc>
            </a:pPr>
            <a:r>
              <a:rPr lang="en-US" sz="2145" b="1" dirty="0">
                <a:solidFill>
                  <a:srgbClr val="014B9E"/>
                </a:solidFill>
                <a:latin typeface="Calibri (MS) Bold"/>
                <a:ea typeface="Calibri (MS) Bold"/>
                <a:cs typeface="Calibri (MS) Bold"/>
                <a:sym typeface="Calibri (MS) Bold"/>
              </a:rPr>
              <a:t>3. Methodology</a:t>
            </a:r>
          </a:p>
        </p:txBody>
      </p:sp>
      <p:sp>
        <p:nvSpPr>
          <p:cNvPr id="39" name="TextBox 39"/>
          <p:cNvSpPr txBox="1"/>
          <p:nvPr/>
        </p:nvSpPr>
        <p:spPr>
          <a:xfrm>
            <a:off x="10209143" y="5473237"/>
            <a:ext cx="2361611" cy="384721"/>
          </a:xfrm>
          <a:prstGeom prst="rect">
            <a:avLst/>
          </a:prstGeom>
        </p:spPr>
        <p:txBody>
          <a:bodyPr lIns="0" tIns="0" rIns="0" bIns="0" rtlCol="0" anchor="t">
            <a:spAutoFit/>
          </a:bodyPr>
          <a:lstStyle/>
          <a:p>
            <a:pPr algn="ctr">
              <a:lnSpc>
                <a:spcPts val="3003"/>
              </a:lnSpc>
            </a:pPr>
            <a:r>
              <a:rPr lang="en-US" sz="2145" b="1" dirty="0">
                <a:solidFill>
                  <a:srgbClr val="014B9E"/>
                </a:solidFill>
                <a:latin typeface="Calibri (MS) Bold"/>
                <a:ea typeface="Calibri (MS) Bold"/>
                <a:cs typeface="Calibri (MS) Bold"/>
                <a:sym typeface="Calibri (MS) Bold"/>
              </a:rPr>
              <a:t>5. Simulation Results</a:t>
            </a:r>
          </a:p>
        </p:txBody>
      </p:sp>
      <p:grpSp>
        <p:nvGrpSpPr>
          <p:cNvPr id="40" name="Group 40"/>
          <p:cNvGrpSpPr/>
          <p:nvPr/>
        </p:nvGrpSpPr>
        <p:grpSpPr>
          <a:xfrm>
            <a:off x="10140371" y="10524822"/>
            <a:ext cx="9705652" cy="3524721"/>
            <a:chOff x="0" y="0"/>
            <a:chExt cx="3663242" cy="1330280"/>
          </a:xfrm>
        </p:grpSpPr>
        <p:sp>
          <p:nvSpPr>
            <p:cNvPr id="41" name="Freeform 41"/>
            <p:cNvSpPr/>
            <p:nvPr/>
          </p:nvSpPr>
          <p:spPr>
            <a:xfrm>
              <a:off x="0" y="0"/>
              <a:ext cx="3663242" cy="1330280"/>
            </a:xfrm>
            <a:custGeom>
              <a:avLst/>
              <a:gdLst/>
              <a:ahLst/>
              <a:cxnLst/>
              <a:rect l="l" t="t" r="r" b="b"/>
              <a:pathLst>
                <a:path w="3663242" h="1330280">
                  <a:moveTo>
                    <a:pt x="2096" y="0"/>
                  </a:moveTo>
                  <a:lnTo>
                    <a:pt x="3661145" y="0"/>
                  </a:lnTo>
                  <a:cubicBezTo>
                    <a:pt x="3661701" y="0"/>
                    <a:pt x="3662234" y="221"/>
                    <a:pt x="3662628" y="614"/>
                  </a:cubicBezTo>
                  <a:cubicBezTo>
                    <a:pt x="3663021" y="1007"/>
                    <a:pt x="3663242" y="1540"/>
                    <a:pt x="3663242" y="2096"/>
                  </a:cubicBezTo>
                  <a:lnTo>
                    <a:pt x="3663242" y="1328183"/>
                  </a:lnTo>
                  <a:cubicBezTo>
                    <a:pt x="3663242" y="1329341"/>
                    <a:pt x="3662303" y="1330280"/>
                    <a:pt x="3661145" y="1330280"/>
                  </a:cubicBezTo>
                  <a:lnTo>
                    <a:pt x="2096" y="1330280"/>
                  </a:lnTo>
                  <a:cubicBezTo>
                    <a:pt x="1540" y="1330280"/>
                    <a:pt x="1007" y="1330059"/>
                    <a:pt x="614" y="1329666"/>
                  </a:cubicBezTo>
                  <a:cubicBezTo>
                    <a:pt x="221" y="1329272"/>
                    <a:pt x="0" y="1328739"/>
                    <a:pt x="0" y="1328183"/>
                  </a:cubicBezTo>
                  <a:lnTo>
                    <a:pt x="0" y="2096"/>
                  </a:lnTo>
                  <a:cubicBezTo>
                    <a:pt x="0" y="939"/>
                    <a:pt x="939" y="0"/>
                    <a:pt x="2096" y="0"/>
                  </a:cubicBezTo>
                  <a:close/>
                </a:path>
              </a:pathLst>
            </a:custGeom>
            <a:solidFill>
              <a:srgbClr val="FFFFFF"/>
            </a:solidFill>
          </p:spPr>
        </p:sp>
        <p:sp>
          <p:nvSpPr>
            <p:cNvPr id="42" name="TextBox 42"/>
            <p:cNvSpPr txBox="1"/>
            <p:nvPr/>
          </p:nvSpPr>
          <p:spPr>
            <a:xfrm>
              <a:off x="0" y="-28575"/>
              <a:ext cx="3663242" cy="1358855"/>
            </a:xfrm>
            <a:prstGeom prst="rect">
              <a:avLst/>
            </a:prstGeom>
          </p:spPr>
          <p:txBody>
            <a:bodyPr lIns="25953" tIns="25953" rIns="25953" bIns="25953" rtlCol="0" anchor="ctr"/>
            <a:lstStyle/>
            <a:p>
              <a:pPr algn="ctr">
                <a:lnSpc>
                  <a:spcPts val="1430"/>
                </a:lnSpc>
              </a:pPr>
              <a:endParaRPr/>
            </a:p>
          </p:txBody>
        </p:sp>
      </p:grpSp>
      <p:sp>
        <p:nvSpPr>
          <p:cNvPr id="43" name="TextBox 43"/>
          <p:cNvSpPr txBox="1"/>
          <p:nvPr/>
        </p:nvSpPr>
        <p:spPr>
          <a:xfrm>
            <a:off x="10145578" y="10576668"/>
            <a:ext cx="3889025" cy="384721"/>
          </a:xfrm>
          <a:prstGeom prst="rect">
            <a:avLst/>
          </a:prstGeom>
        </p:spPr>
        <p:txBody>
          <a:bodyPr wrap="square" lIns="0" tIns="0" rIns="0" bIns="0" rtlCol="0" anchor="t">
            <a:spAutoFit/>
          </a:bodyPr>
          <a:lstStyle/>
          <a:p>
            <a:pPr algn="ctr">
              <a:lnSpc>
                <a:spcPts val="3003"/>
              </a:lnSpc>
            </a:pPr>
            <a:r>
              <a:rPr lang="en-US" sz="2145" b="1" dirty="0">
                <a:solidFill>
                  <a:srgbClr val="014B9E"/>
                </a:solidFill>
                <a:latin typeface="Calibri (MS) Bold"/>
                <a:ea typeface="Calibri (MS) Bold"/>
                <a:cs typeface="Calibri (MS) Bold"/>
                <a:sym typeface="Calibri (MS) Bold"/>
              </a:rPr>
              <a:t>6. Conclusion  and  future scope</a:t>
            </a:r>
          </a:p>
        </p:txBody>
      </p:sp>
      <p:sp>
        <p:nvSpPr>
          <p:cNvPr id="44" name="TextBox 44"/>
          <p:cNvSpPr txBox="1"/>
          <p:nvPr/>
        </p:nvSpPr>
        <p:spPr>
          <a:xfrm>
            <a:off x="288184" y="14215695"/>
            <a:ext cx="1168480" cy="282129"/>
          </a:xfrm>
          <a:prstGeom prst="rect">
            <a:avLst/>
          </a:prstGeom>
        </p:spPr>
        <p:txBody>
          <a:bodyPr lIns="0" tIns="0" rIns="0" bIns="0" rtlCol="0" anchor="t">
            <a:spAutoFit/>
          </a:bodyPr>
          <a:lstStyle/>
          <a:p>
            <a:pPr algn="ctr">
              <a:lnSpc>
                <a:spcPts val="2163"/>
              </a:lnSpc>
            </a:pPr>
            <a:r>
              <a:rPr lang="en-US" sz="1545" b="1" dirty="0">
                <a:solidFill>
                  <a:srgbClr val="014B9E"/>
                </a:solidFill>
                <a:latin typeface="Calibri (MS) Bold"/>
                <a:ea typeface="Calibri (MS) Bold"/>
                <a:cs typeface="Calibri (MS) Bold"/>
                <a:sym typeface="Calibri (MS) Bold"/>
              </a:rPr>
              <a:t>Prepared by:</a:t>
            </a:r>
          </a:p>
        </p:txBody>
      </p:sp>
      <p:sp>
        <p:nvSpPr>
          <p:cNvPr id="45" name="TextBox 45"/>
          <p:cNvSpPr txBox="1"/>
          <p:nvPr/>
        </p:nvSpPr>
        <p:spPr>
          <a:xfrm>
            <a:off x="18491291" y="14123833"/>
            <a:ext cx="1413579" cy="294953"/>
          </a:xfrm>
          <a:prstGeom prst="rect">
            <a:avLst/>
          </a:prstGeom>
        </p:spPr>
        <p:txBody>
          <a:bodyPr lIns="0" tIns="0" rIns="0" bIns="0" rtlCol="0" anchor="t">
            <a:spAutoFit/>
          </a:bodyPr>
          <a:lstStyle/>
          <a:p>
            <a:pPr algn="ctr">
              <a:lnSpc>
                <a:spcPts val="2303"/>
              </a:lnSpc>
            </a:pPr>
            <a:r>
              <a:rPr lang="en-US" sz="1645" b="1" dirty="0">
                <a:solidFill>
                  <a:srgbClr val="014B9E"/>
                </a:solidFill>
                <a:latin typeface="Calibri (MS) Bold"/>
                <a:ea typeface="Calibri (MS) Bold"/>
                <a:cs typeface="Calibri (MS) Bold"/>
                <a:sym typeface="Calibri (MS) Bold"/>
              </a:rPr>
              <a:t>Mentored by:</a:t>
            </a:r>
          </a:p>
        </p:txBody>
      </p:sp>
      <p:sp>
        <p:nvSpPr>
          <p:cNvPr id="46" name="TextBox 46"/>
          <p:cNvSpPr txBox="1"/>
          <p:nvPr/>
        </p:nvSpPr>
        <p:spPr>
          <a:xfrm>
            <a:off x="17161669" y="14418786"/>
            <a:ext cx="3445669" cy="436017"/>
          </a:xfrm>
          <a:prstGeom prst="rect">
            <a:avLst/>
          </a:prstGeom>
        </p:spPr>
        <p:txBody>
          <a:bodyPr wrap="square" lIns="0" tIns="0" rIns="0" bIns="0" rtlCol="0" anchor="t">
            <a:spAutoFit/>
          </a:bodyPr>
          <a:lstStyle/>
          <a:p>
            <a:pPr algn="ctr">
              <a:lnSpc>
                <a:spcPts val="3423"/>
              </a:lnSpc>
            </a:pPr>
            <a:r>
              <a:rPr lang="en-US" sz="2445" b="1" dirty="0">
                <a:solidFill>
                  <a:srgbClr val="014B9E"/>
                </a:solidFill>
                <a:latin typeface="Calibri (MS) Bold"/>
                <a:ea typeface="Calibri (MS) Bold"/>
                <a:cs typeface="Calibri (MS) Bold"/>
                <a:sym typeface="Calibri (MS) Bold"/>
              </a:rPr>
              <a:t>Dr.Arpita Patel</a:t>
            </a:r>
          </a:p>
        </p:txBody>
      </p:sp>
      <p:sp>
        <p:nvSpPr>
          <p:cNvPr id="47" name="TextBox 47"/>
          <p:cNvSpPr txBox="1"/>
          <p:nvPr/>
        </p:nvSpPr>
        <p:spPr>
          <a:xfrm>
            <a:off x="169065" y="14428493"/>
            <a:ext cx="2095799" cy="369781"/>
          </a:xfrm>
          <a:prstGeom prst="rect">
            <a:avLst/>
          </a:prstGeom>
        </p:spPr>
        <p:txBody>
          <a:bodyPr wrap="square" lIns="0" tIns="0" rIns="0" bIns="0" rtlCol="0" anchor="t">
            <a:spAutoFit/>
          </a:bodyPr>
          <a:lstStyle/>
          <a:p>
            <a:pPr algn="ctr">
              <a:lnSpc>
                <a:spcPts val="3003"/>
              </a:lnSpc>
            </a:pPr>
            <a:r>
              <a:rPr lang="en-US" sz="2300" b="1" dirty="0">
                <a:solidFill>
                  <a:srgbClr val="014B9E"/>
                </a:solidFill>
                <a:latin typeface="Calibri (MS) Bold"/>
                <a:cs typeface="Calibri (MS) Bold"/>
                <a:sym typeface="Calibri (MS) Bold"/>
              </a:rPr>
              <a:t>Kushal </a:t>
            </a:r>
            <a:r>
              <a:rPr lang="en-US" sz="2300" b="1" err="1">
                <a:solidFill>
                  <a:srgbClr val="014B9E"/>
                </a:solidFill>
                <a:latin typeface="Calibri (MS) Bold"/>
                <a:cs typeface="Calibri (MS) Bold"/>
                <a:sym typeface="Calibri (MS) Bold"/>
              </a:rPr>
              <a:t>Pitaliya</a:t>
            </a:r>
            <a:endParaRPr lang="en-US" sz="2300">
              <a:ea typeface="Calibri"/>
              <a:cs typeface="Calibri"/>
            </a:endParaRPr>
          </a:p>
        </p:txBody>
      </p:sp>
      <p:sp>
        <p:nvSpPr>
          <p:cNvPr id="48" name="TextBox 48"/>
          <p:cNvSpPr txBox="1"/>
          <p:nvPr/>
        </p:nvSpPr>
        <p:spPr>
          <a:xfrm>
            <a:off x="280955" y="14811986"/>
            <a:ext cx="1803438" cy="262380"/>
          </a:xfrm>
          <a:prstGeom prst="rect">
            <a:avLst/>
          </a:prstGeom>
        </p:spPr>
        <p:txBody>
          <a:bodyPr wrap="square" lIns="0" tIns="0" rIns="0" bIns="0" rtlCol="0" anchor="t">
            <a:spAutoFit/>
          </a:bodyPr>
          <a:lstStyle/>
          <a:p>
            <a:pPr algn="ctr">
              <a:lnSpc>
                <a:spcPts val="2163"/>
              </a:lnSpc>
            </a:pPr>
            <a:r>
              <a:rPr lang="en-US" sz="1500" b="1" dirty="0">
                <a:solidFill>
                  <a:srgbClr val="014B9E"/>
                </a:solidFill>
                <a:latin typeface="Calibri (MS) Bold"/>
                <a:ea typeface="Calibri (MS) Bold"/>
                <a:cs typeface="Calibri (MS) Bold"/>
                <a:sym typeface="Calibri (MS) Bold"/>
              </a:rPr>
              <a:t>ID NO. 23EC105</a:t>
            </a:r>
            <a:endParaRPr lang="en-US" sz="1545" b="1" dirty="0">
              <a:solidFill>
                <a:srgbClr val="014B9E"/>
              </a:solidFill>
              <a:latin typeface="Calibri (MS) Bold"/>
              <a:ea typeface="Calibri (MS) Bold"/>
              <a:cs typeface="Calibri (MS) Bold"/>
              <a:sym typeface="Calibri (MS) Bold"/>
            </a:endParaRPr>
          </a:p>
        </p:txBody>
      </p:sp>
      <p:sp>
        <p:nvSpPr>
          <p:cNvPr id="49" name="TextBox 49"/>
          <p:cNvSpPr txBox="1"/>
          <p:nvPr/>
        </p:nvSpPr>
        <p:spPr>
          <a:xfrm>
            <a:off x="5867334" y="1432645"/>
            <a:ext cx="8255730" cy="371897"/>
          </a:xfrm>
          <a:prstGeom prst="rect">
            <a:avLst/>
          </a:prstGeom>
        </p:spPr>
        <p:txBody>
          <a:bodyPr lIns="0" tIns="0" rIns="0" bIns="0" rtlCol="0" anchor="t">
            <a:spAutoFit/>
          </a:bodyPr>
          <a:lstStyle/>
          <a:p>
            <a:pPr algn="ctr">
              <a:lnSpc>
                <a:spcPts val="2939"/>
              </a:lnSpc>
            </a:pPr>
            <a:r>
              <a:rPr lang="en-US" sz="2099" b="1" dirty="0">
                <a:solidFill>
                  <a:srgbClr val="014B9E"/>
                </a:solidFill>
                <a:latin typeface="Calibri (MS) Bold"/>
                <a:ea typeface="Calibri (MS) Bold"/>
                <a:cs typeface="Calibri (MS) Bold"/>
                <a:sym typeface="Calibri (MS) Bold"/>
              </a:rPr>
              <a:t>Course : “ EC317 - Modeling Using Verilog ”</a:t>
            </a:r>
          </a:p>
        </p:txBody>
      </p:sp>
      <p:sp>
        <p:nvSpPr>
          <p:cNvPr id="50" name="TextBox 50"/>
          <p:cNvSpPr txBox="1"/>
          <p:nvPr/>
        </p:nvSpPr>
        <p:spPr>
          <a:xfrm>
            <a:off x="-159006" y="1824123"/>
            <a:ext cx="20249074" cy="615553"/>
          </a:xfrm>
          <a:prstGeom prst="rect">
            <a:avLst/>
          </a:prstGeom>
        </p:spPr>
        <p:txBody>
          <a:bodyPr wrap="square" lIns="0" tIns="0" rIns="0" bIns="0" rtlCol="0" anchor="t">
            <a:spAutoFit/>
          </a:bodyPr>
          <a:lstStyle/>
          <a:p>
            <a:pPr algn="ctr"/>
            <a:r>
              <a:rPr lang="en-US" sz="4000" b="1" dirty="0">
                <a:solidFill>
                  <a:schemeClr val="tx2"/>
                </a:solidFill>
                <a:sym typeface="Calibri (MS) Bold"/>
              </a:rPr>
              <a:t>Design and Implementation of an 8-bit Synchronous FIFO on a Spartan-6 FPGA</a:t>
            </a:r>
            <a:endParaRPr lang="en-US" dirty="0">
              <a:solidFill>
                <a:schemeClr val="tx2"/>
              </a:solidFill>
            </a:endParaRPr>
          </a:p>
        </p:txBody>
      </p:sp>
      <p:sp>
        <p:nvSpPr>
          <p:cNvPr id="51" name="TextBox 51"/>
          <p:cNvSpPr txBox="1"/>
          <p:nvPr/>
        </p:nvSpPr>
        <p:spPr>
          <a:xfrm>
            <a:off x="16584871" y="14782313"/>
            <a:ext cx="3521226" cy="346249"/>
          </a:xfrm>
          <a:prstGeom prst="rect">
            <a:avLst/>
          </a:prstGeom>
        </p:spPr>
        <p:txBody>
          <a:bodyPr lIns="0" tIns="0" rIns="0" bIns="0" rtlCol="0" anchor="t">
            <a:spAutoFit/>
          </a:bodyPr>
          <a:lstStyle/>
          <a:p>
            <a:pPr algn="ctr">
              <a:lnSpc>
                <a:spcPts val="2689"/>
              </a:lnSpc>
              <a:spcBef>
                <a:spcPct val="0"/>
              </a:spcBef>
            </a:pPr>
            <a:r>
              <a:rPr lang="en-US" sz="1920" b="1" dirty="0">
                <a:solidFill>
                  <a:srgbClr val="014B9E"/>
                </a:solidFill>
                <a:latin typeface="Calibri (MS) Bold"/>
                <a:ea typeface="Calibri (MS) Bold"/>
                <a:cs typeface="Calibri (MS) Bold"/>
                <a:sym typeface="Calibri (MS) Bold"/>
              </a:rPr>
              <a:t>Associate  Professor, EC </a:t>
            </a:r>
            <a:r>
              <a:rPr lang="en-US" sz="1920" b="1" dirty="0" err="1">
                <a:solidFill>
                  <a:srgbClr val="014B9E"/>
                </a:solidFill>
                <a:latin typeface="Calibri (MS) Bold"/>
                <a:ea typeface="Calibri (MS) Bold"/>
                <a:cs typeface="Calibri (MS) Bold"/>
                <a:sym typeface="Calibri (MS) Bold"/>
              </a:rPr>
              <a:t>Dept</a:t>
            </a:r>
            <a:endParaRPr lang="en-US" sz="1920" b="1" dirty="0">
              <a:solidFill>
                <a:srgbClr val="014B9E"/>
              </a:solidFill>
              <a:latin typeface="Calibri (MS) Bold"/>
              <a:ea typeface="Calibri (MS) Bold"/>
              <a:cs typeface="Calibri (MS) Bold"/>
              <a:sym typeface="Calibri (MS) Bold"/>
            </a:endParaRPr>
          </a:p>
        </p:txBody>
      </p:sp>
      <p:sp>
        <p:nvSpPr>
          <p:cNvPr id="52" name="TextBox 52"/>
          <p:cNvSpPr txBox="1"/>
          <p:nvPr/>
        </p:nvSpPr>
        <p:spPr>
          <a:xfrm>
            <a:off x="296177" y="3409535"/>
            <a:ext cx="9529011" cy="1231106"/>
          </a:xfrm>
          <a:prstGeom prst="rect">
            <a:avLst/>
          </a:prstGeom>
        </p:spPr>
        <p:txBody>
          <a:bodyPr wrap="square" lIns="0" tIns="0" rIns="0" bIns="0" rtlCol="0" anchor="t">
            <a:spAutoFit/>
          </a:bodyPr>
          <a:lstStyle/>
          <a:p>
            <a:pPr algn="just"/>
            <a:r>
              <a:rPr lang="en-US" sz="1600" dirty="0">
                <a:ea typeface="+mn-lt"/>
                <a:cs typeface="+mn-lt"/>
                <a:sym typeface="Calibri (MS) Bold"/>
              </a:rPr>
              <a:t>The primary objective of this project is to design, simulate, implement, and physically verify an 8-bit wide, 16-word deep synchronous First-In-First-Out (FIFO) memory buffer. The design will be coded in Verilog HDL and implemented on an EDGE Spartan 6 FPGA board. The project aims to demonstrate a robust, real-time hardware system for digital data queuing, complete with status indicators for full and empty conditions, controlled and monitored using physical switches and LEDs.</a:t>
            </a:r>
            <a:endParaRPr lang="en-US" sz="1600" dirty="0">
              <a:ea typeface="+mn-lt"/>
              <a:cs typeface="+mn-lt"/>
            </a:endParaRPr>
          </a:p>
        </p:txBody>
      </p:sp>
      <p:sp>
        <p:nvSpPr>
          <p:cNvPr id="53" name="TextBox 53"/>
          <p:cNvSpPr txBox="1"/>
          <p:nvPr/>
        </p:nvSpPr>
        <p:spPr>
          <a:xfrm>
            <a:off x="271049" y="7834148"/>
            <a:ext cx="9552838" cy="6155531"/>
          </a:xfrm>
          <a:prstGeom prst="rect">
            <a:avLst/>
          </a:prstGeom>
        </p:spPr>
        <p:txBody>
          <a:bodyPr wrap="square" lIns="0" tIns="0" rIns="0" bIns="0" rtlCol="0" anchor="t">
            <a:spAutoFit/>
          </a:bodyPr>
          <a:lstStyle/>
          <a:p>
            <a:pPr algn="just"/>
            <a:r>
              <a:rPr lang="en-US" sz="1600" dirty="0">
                <a:ea typeface="+mn-lt"/>
                <a:cs typeface="+mn-lt"/>
                <a:sym typeface="Calibri (MS) Bold"/>
              </a:rPr>
              <a:t>The project followed a structured FPGA design and verification flow:</a:t>
            </a:r>
            <a:endParaRPr lang="en-US" sz="1600" dirty="0">
              <a:ea typeface="+mn-lt"/>
              <a:cs typeface="+mn-lt"/>
            </a:endParaRPr>
          </a:p>
          <a:p>
            <a:pPr algn="just"/>
            <a:r>
              <a:rPr lang="en-US" sz="1600" b="1" dirty="0">
                <a:ea typeface="+mn-lt"/>
                <a:cs typeface="+mn-lt"/>
                <a:sym typeface="Calibri (MS) Bold"/>
              </a:rPr>
              <a:t>Design using Verilog HDL:</a:t>
            </a:r>
            <a:r>
              <a:rPr lang="en-US" sz="1600" dirty="0">
                <a:ea typeface="+mn-lt"/>
                <a:cs typeface="+mn-lt"/>
                <a:sym typeface="Calibri (MS) Bold"/>
              </a:rPr>
              <a:t> A modular design approach was adopted with three key modules:</a:t>
            </a:r>
          </a:p>
          <a:p>
            <a:pPr algn="just"/>
            <a:r>
              <a:rPr lang="en-US" sz="1600" b="1" dirty="0" err="1">
                <a:ea typeface="+mn-lt"/>
                <a:cs typeface="+mn-lt"/>
                <a:sym typeface="Calibri (MS) Bold"/>
              </a:rPr>
              <a:t>fifo_sync.v</a:t>
            </a:r>
            <a:r>
              <a:rPr lang="en-US" sz="1600" b="1" dirty="0">
                <a:ea typeface="+mn-lt"/>
                <a:cs typeface="+mn-lt"/>
                <a:sym typeface="Calibri (MS) Bold"/>
              </a:rPr>
              <a:t> (Core Logic):</a:t>
            </a:r>
            <a:r>
              <a:rPr lang="en-US" sz="1600" dirty="0">
                <a:ea typeface="+mn-lt"/>
                <a:cs typeface="+mn-lt"/>
                <a:sym typeface="Calibri (MS) Bold"/>
              </a:rPr>
              <a:t> This module implements the heart of the FIFO. It contains the 8-bit memory array, separate read and write pointers, and an </a:t>
            </a:r>
            <a:r>
              <a:rPr lang="en-US" sz="1600" dirty="0" err="1">
                <a:ea typeface="+mn-lt"/>
                <a:cs typeface="+mn-lt"/>
                <a:sym typeface="Calibri (MS) Bold"/>
              </a:rPr>
              <a:t>item_count</a:t>
            </a:r>
            <a:r>
              <a:rPr lang="en-US" sz="1600" dirty="0">
                <a:ea typeface="+mn-lt"/>
                <a:cs typeface="+mn-lt"/>
                <a:sym typeface="Calibri (MS) Bold"/>
              </a:rPr>
              <a:t> register to robustly manage the full and empty status flags. The output is registered to ensure a clean, stable data signal.</a:t>
            </a:r>
          </a:p>
          <a:p>
            <a:pPr algn="just"/>
            <a:r>
              <a:rPr lang="en-US" sz="1600" b="1" dirty="0" err="1">
                <a:ea typeface="+mn-lt"/>
                <a:cs typeface="+mn-lt"/>
                <a:sym typeface="Calibri (MS) Bold"/>
              </a:rPr>
              <a:t>debounce.v</a:t>
            </a:r>
            <a:r>
              <a:rPr lang="en-US" sz="1600" b="1" dirty="0">
                <a:ea typeface="+mn-lt"/>
                <a:cs typeface="+mn-lt"/>
                <a:sym typeface="Calibri (MS) Bold"/>
              </a:rPr>
              <a:t> (Button Filter):</a:t>
            </a:r>
            <a:r>
              <a:rPr lang="en-US" sz="1600" dirty="0">
                <a:ea typeface="+mn-lt"/>
                <a:cs typeface="+mn-lt"/>
                <a:sym typeface="Calibri (MS) Bold"/>
              </a:rPr>
              <a:t> This crucial utility module takes a noisy physical button press as input and, using a timer-based filter, produces a single, clean, one-clock-cycle pulse. This prevents a single press from being incorrectly registered multiple times.</a:t>
            </a:r>
          </a:p>
          <a:p>
            <a:pPr algn="just"/>
            <a:r>
              <a:rPr lang="en-US" sz="1600" b="1" dirty="0" err="1">
                <a:ea typeface="+mn-lt"/>
                <a:cs typeface="+mn-lt"/>
                <a:sym typeface="Calibri (MS) Bold"/>
              </a:rPr>
              <a:t>top_fifo.v</a:t>
            </a:r>
            <a:r>
              <a:rPr lang="en-US" sz="1600" b="1" dirty="0">
                <a:ea typeface="+mn-lt"/>
                <a:cs typeface="+mn-lt"/>
                <a:sym typeface="Calibri (MS) Bold"/>
              </a:rPr>
              <a:t> (Hardware Interface):</a:t>
            </a:r>
            <a:r>
              <a:rPr lang="en-US" sz="1600" dirty="0">
                <a:ea typeface="+mn-lt"/>
                <a:cs typeface="+mn-lt"/>
                <a:sym typeface="Calibri (MS) Bold"/>
              </a:rPr>
              <a:t> This top-level module integrates the system. It instantiates the </a:t>
            </a:r>
            <a:r>
              <a:rPr lang="en-US" sz="1600" dirty="0" err="1">
                <a:ea typeface="+mn-lt"/>
                <a:cs typeface="+mn-lt"/>
                <a:sym typeface="Calibri (MS) Bold"/>
              </a:rPr>
              <a:t>fifo_sync</a:t>
            </a:r>
            <a:r>
              <a:rPr lang="en-US" sz="1600" dirty="0">
                <a:ea typeface="+mn-lt"/>
                <a:cs typeface="+mn-lt"/>
                <a:sym typeface="Calibri (MS) Bold"/>
              </a:rPr>
              <a:t> core and three separate instances of the debounce module (for Write, Read, and Reset). It also includes a power-on reset circuit to ensure the FIFO initializes correctly.</a:t>
            </a:r>
            <a:endParaRPr lang="en-US" sz="1600" dirty="0">
              <a:ea typeface="Calibri"/>
              <a:cs typeface="Calibri"/>
            </a:endParaRPr>
          </a:p>
          <a:p>
            <a:pPr algn="just"/>
            <a:r>
              <a:rPr lang="en-US" sz="1600" b="1" dirty="0">
                <a:ea typeface="+mn-lt"/>
                <a:cs typeface="+mn-lt"/>
                <a:sym typeface="Calibri (MS) Bold"/>
              </a:rPr>
              <a:t>Simulation in Xilinx ISE:</a:t>
            </a:r>
            <a:r>
              <a:rPr lang="en-US" sz="1600" dirty="0">
                <a:ea typeface="+mn-lt"/>
                <a:cs typeface="+mn-lt"/>
                <a:sym typeface="Calibri (MS) Bold"/>
              </a:rPr>
              <a:t> A Verilog testbench was used to rigorously test the complete design, including the </a:t>
            </a:r>
            <a:r>
              <a:rPr lang="en-US" sz="1600" dirty="0" err="1">
                <a:ea typeface="+mn-lt"/>
                <a:cs typeface="+mn-lt"/>
                <a:sym typeface="Calibri (MS) Bold"/>
              </a:rPr>
              <a:t>debouncer</a:t>
            </a:r>
            <a:r>
              <a:rPr lang="en-US" sz="1600" dirty="0">
                <a:ea typeface="+mn-lt"/>
                <a:cs typeface="+mn-lt"/>
                <a:sym typeface="Calibri (MS) Bold"/>
              </a:rPr>
              <a:t>, to verify all logical behaviors and boundary conditions before synthesis.</a:t>
            </a:r>
            <a:endParaRPr lang="en-US" sz="1600" dirty="0">
              <a:ea typeface="+mn-lt"/>
              <a:cs typeface="+mn-lt"/>
            </a:endParaRPr>
          </a:p>
          <a:p>
            <a:pPr algn="just"/>
            <a:r>
              <a:rPr lang="en-US" sz="1600" b="1" dirty="0">
                <a:ea typeface="+mn-lt"/>
                <a:cs typeface="+mn-lt"/>
                <a:sym typeface="Calibri (MS) Bold"/>
              </a:rPr>
              <a:t>Synthesis and Implementation:</a:t>
            </a:r>
            <a:r>
              <a:rPr lang="en-US" sz="1600" dirty="0">
                <a:ea typeface="+mn-lt"/>
                <a:cs typeface="+mn-lt"/>
                <a:sym typeface="Calibri (MS) Bold"/>
              </a:rPr>
              <a:t> The Verilog design was synthesized into a gate-level netlist using the Xilinx ISE tool. The Implement step then performed Place &amp; Route, mapping the logic onto the Spartan-6 fabric and generating the final .bit file.</a:t>
            </a:r>
            <a:endParaRPr lang="en-US" sz="1600" dirty="0">
              <a:ea typeface="+mn-lt"/>
              <a:cs typeface="+mn-lt"/>
            </a:endParaRPr>
          </a:p>
          <a:p>
            <a:pPr algn="just"/>
            <a:r>
              <a:rPr lang="en-US" sz="1600" b="1" dirty="0">
                <a:ea typeface="+mn-lt"/>
                <a:cs typeface="+mn-lt"/>
                <a:sym typeface="Calibri (MS) Bold"/>
              </a:rPr>
              <a:t>Hardware testing and output observation:</a:t>
            </a:r>
            <a:r>
              <a:rPr lang="en-US" sz="1600" dirty="0">
                <a:ea typeface="+mn-lt"/>
                <a:cs typeface="+mn-lt"/>
                <a:sym typeface="Calibri (MS) Bold"/>
              </a:rPr>
              <a:t> The .bit file was downloaded to the EDGE Spartan 6 board. Functionality was verified by setting data on slide switches, using the three push buttons, and observing the output on the data and status LEDs.</a:t>
            </a:r>
            <a:endParaRPr lang="en-US" sz="1600">
              <a:ea typeface="+mn-lt"/>
              <a:cs typeface="+mn-lt"/>
            </a:endParaRPr>
          </a:p>
          <a:p>
            <a:pPr algn="just"/>
            <a:r>
              <a:rPr lang="en-US" sz="1600" b="1" dirty="0">
                <a:ea typeface="+mn-lt"/>
                <a:cs typeface="+mn-lt"/>
                <a:sym typeface="Calibri (MS) Bold"/>
              </a:rPr>
              <a:t>UCF file intro:</a:t>
            </a:r>
            <a:r>
              <a:rPr lang="en-US" sz="1600" dirty="0">
                <a:ea typeface="+mn-lt"/>
                <a:cs typeface="+mn-lt"/>
                <a:sym typeface="Calibri (MS) Bold"/>
              </a:rPr>
              <a:t> The </a:t>
            </a:r>
            <a:r>
              <a:rPr lang="en-US" sz="1600" dirty="0" err="1">
                <a:ea typeface="+mn-lt"/>
                <a:cs typeface="+mn-lt"/>
                <a:sym typeface="Calibri (MS) Bold"/>
              </a:rPr>
              <a:t>top_fifo.ucf</a:t>
            </a:r>
            <a:r>
              <a:rPr lang="en-US" sz="1600" dirty="0">
                <a:ea typeface="+mn-lt"/>
                <a:cs typeface="+mn-lt"/>
                <a:sym typeface="Calibri (MS) Bold"/>
              </a:rPr>
              <a:t> (User Constraints File) was created to map the port names from </a:t>
            </a:r>
            <a:r>
              <a:rPr lang="en-US" sz="1600" dirty="0" err="1">
                <a:ea typeface="+mn-lt"/>
                <a:cs typeface="+mn-lt"/>
                <a:sym typeface="Calibri (MS) Bold"/>
              </a:rPr>
              <a:t>top_fifo.v</a:t>
            </a:r>
            <a:r>
              <a:rPr lang="en-US" sz="1600" dirty="0">
                <a:ea typeface="+mn-lt"/>
                <a:cs typeface="+mn-lt"/>
                <a:sym typeface="Calibri (MS) Bold"/>
              </a:rPr>
              <a:t> to the physical pins of the FPGA</a:t>
            </a:r>
            <a:r>
              <a:rPr lang="en-US" sz="1600" dirty="0">
                <a:ea typeface="+mn-lt"/>
                <a:cs typeface="+mn-lt"/>
              </a:rPr>
              <a:t>, such as NET "clk_50mhz" LOC = "P84";.</a:t>
            </a:r>
            <a:endParaRPr lang="en-US" sz="1600" dirty="0">
              <a:ea typeface="Calibri"/>
              <a:cs typeface="Calibri"/>
            </a:endParaRPr>
          </a:p>
          <a:p>
            <a:pPr algn="just"/>
            <a:r>
              <a:rPr lang="en-US" sz="1600" b="1" dirty="0">
                <a:ea typeface="+mn-lt"/>
                <a:cs typeface="+mn-lt"/>
              </a:rPr>
              <a:t>Note on Frequency Division:</a:t>
            </a:r>
            <a:r>
              <a:rPr lang="en-US" sz="1600" dirty="0">
                <a:ea typeface="+mn-lt"/>
                <a:cs typeface="+mn-lt"/>
              </a:rPr>
              <a:t> This project operates entirely on the board's single 50 MHz system clock. </a:t>
            </a:r>
            <a:r>
              <a:rPr lang="en-US" sz="1600" b="1" dirty="0">
                <a:ea typeface="+mn-lt"/>
                <a:cs typeface="+mn-lt"/>
              </a:rPr>
              <a:t>Frequency division was not required</a:t>
            </a:r>
            <a:r>
              <a:rPr lang="en-US" sz="1600" dirty="0">
                <a:ea typeface="+mn-lt"/>
                <a:cs typeface="+mn-lt"/>
              </a:rPr>
              <a:t>, as all operations are synchronous to the main clock, and the debounce module uses a counter to manage timing delays rather than generating a new, continuous clock signal.</a:t>
            </a:r>
          </a:p>
          <a:p>
            <a:pPr algn="just"/>
            <a:endParaRPr lang="en-US" sz="1600" dirty="0">
              <a:ea typeface="Calibri"/>
              <a:cs typeface="Calibri"/>
            </a:endParaRPr>
          </a:p>
        </p:txBody>
      </p:sp>
      <p:sp>
        <p:nvSpPr>
          <p:cNvPr id="54" name="TextBox 54"/>
          <p:cNvSpPr txBox="1"/>
          <p:nvPr/>
        </p:nvSpPr>
        <p:spPr>
          <a:xfrm>
            <a:off x="11208842" y="6944822"/>
            <a:ext cx="6698542" cy="359650"/>
          </a:xfrm>
          <a:prstGeom prst="rect">
            <a:avLst/>
          </a:prstGeom>
        </p:spPr>
        <p:txBody>
          <a:bodyPr lIns="0" tIns="0" rIns="0" bIns="0" rtlCol="0" anchor="t">
            <a:spAutoFit/>
          </a:bodyPr>
          <a:lstStyle/>
          <a:p>
            <a:pPr algn="ctr">
              <a:lnSpc>
                <a:spcPts val="3003"/>
              </a:lnSpc>
            </a:pPr>
            <a:endParaRPr lang="en-US" sz="2100" b="1" dirty="0">
              <a:solidFill>
                <a:srgbClr val="014B9E"/>
              </a:solidFill>
              <a:latin typeface="Calibri (MS) Bold"/>
              <a:ea typeface="Calibri (MS) Bold"/>
              <a:cs typeface="Calibri (MS) Bold"/>
            </a:endParaRPr>
          </a:p>
        </p:txBody>
      </p:sp>
      <p:sp>
        <p:nvSpPr>
          <p:cNvPr id="56" name="TextBox 56"/>
          <p:cNvSpPr txBox="1"/>
          <p:nvPr/>
        </p:nvSpPr>
        <p:spPr>
          <a:xfrm>
            <a:off x="10206033" y="10818606"/>
            <a:ext cx="9098815" cy="3200876"/>
          </a:xfrm>
          <a:prstGeom prst="rect">
            <a:avLst/>
          </a:prstGeom>
        </p:spPr>
        <p:txBody>
          <a:bodyPr wrap="square" lIns="0" tIns="0" rIns="0" bIns="0" rtlCol="0" anchor="t">
            <a:spAutoFit/>
          </a:bodyPr>
          <a:lstStyle/>
          <a:p>
            <a:pPr algn="just"/>
            <a:r>
              <a:rPr lang="en-US" sz="1600" b="1" dirty="0">
                <a:ea typeface="+mn-lt"/>
                <a:cs typeface="+mn-lt"/>
                <a:sym typeface="Calibri (MS) Bold"/>
              </a:rPr>
              <a:t>Conclusion:</a:t>
            </a:r>
            <a:br>
              <a:rPr lang="en-US" sz="1600" b="1" dirty="0">
                <a:ea typeface="+mn-lt"/>
                <a:cs typeface="+mn-lt"/>
              </a:rPr>
            </a:br>
            <a:r>
              <a:rPr lang="en-US" sz="1600" dirty="0">
                <a:ea typeface="+mn-lt"/>
                <a:cs typeface="+mn-lt"/>
                <a:sym typeface="Calibri (MS) Bold"/>
              </a:rPr>
              <a:t>This project successfully demonstrates the end-to-end design, simulation, and hardware implementation of a robust 8-bit synchronous FIFO on a Spartan-6 FPGA. The successful verification on physical hardware confirms a solid understanding of digital memory design, state machine logic, and interfacing with real-world I/O. The inclusion of power-on reset and button debouncing logic ensures the design is stable and reliable.</a:t>
            </a:r>
            <a:endParaRPr lang="en-US" sz="1600" dirty="0">
              <a:ea typeface="Calibri"/>
              <a:cs typeface="Calibri"/>
            </a:endParaRPr>
          </a:p>
          <a:p>
            <a:pPr algn="just"/>
            <a:r>
              <a:rPr lang="en-US" sz="1600" dirty="0">
                <a:ea typeface="+mn-lt"/>
                <a:cs typeface="+mn-lt"/>
                <a:sym typeface="Calibri (MS) Bold"/>
              </a:rPr>
              <a:t>Future En</a:t>
            </a:r>
            <a:r>
              <a:rPr lang="en-US" sz="1600" b="1" dirty="0">
                <a:ea typeface="+mn-lt"/>
                <a:cs typeface="+mn-lt"/>
                <a:sym typeface="Calibri (MS) Bold"/>
              </a:rPr>
              <a:t>hancements:</a:t>
            </a:r>
            <a:endParaRPr lang="en-US" sz="1600" dirty="0">
              <a:ea typeface="Calibri"/>
              <a:cs typeface="Calibri"/>
            </a:endParaRPr>
          </a:p>
          <a:p>
            <a:pPr algn="just"/>
            <a:r>
              <a:rPr lang="en-US" sz="1600" b="1" dirty="0">
                <a:ea typeface="+mn-lt"/>
                <a:cs typeface="+mn-lt"/>
                <a:sym typeface="Calibri (MS) Bold"/>
              </a:rPr>
              <a:t>Asynchronous FIFO:</a:t>
            </a:r>
            <a:r>
              <a:rPr lang="en-US" sz="1600" dirty="0">
                <a:ea typeface="+mn-lt"/>
                <a:cs typeface="+mn-lt"/>
                <a:sym typeface="Calibri (MS) Bold"/>
              </a:rPr>
              <a:t> The next logical step would be to implement an asynchronous FIFO, which uses two independent clocks for writing and reading.</a:t>
            </a:r>
            <a:endParaRPr lang="en-US" sz="1600" dirty="0">
              <a:ea typeface="Calibri"/>
              <a:cs typeface="Calibri"/>
            </a:endParaRPr>
          </a:p>
          <a:p>
            <a:pPr algn="just"/>
            <a:r>
              <a:rPr lang="en-US" sz="1600" b="1" dirty="0">
                <a:ea typeface="+mn-lt"/>
                <a:cs typeface="+mn-lt"/>
                <a:sym typeface="Calibri (MS) Bold"/>
              </a:rPr>
              <a:t>UART Interface Integration:</a:t>
            </a:r>
            <a:r>
              <a:rPr lang="en-US" sz="1600" dirty="0">
                <a:ea typeface="+mn-lt"/>
                <a:cs typeface="+mn-lt"/>
                <a:sym typeface="Calibri (MS) Bold"/>
              </a:rPr>
              <a:t> Integrate a UART (Universal Asynchronous Receiver/Transmitter) module to allow data to be sent to the FIFO from a PC and read back to a serial terminal.</a:t>
            </a:r>
            <a:endParaRPr lang="en-US" sz="1600" dirty="0">
              <a:ea typeface="Calibri"/>
              <a:cs typeface="Calibri"/>
            </a:endParaRPr>
          </a:p>
          <a:p>
            <a:pPr algn="just"/>
            <a:r>
              <a:rPr lang="en-US" sz="1600" b="1" dirty="0">
                <a:ea typeface="+mn-lt"/>
                <a:cs typeface="+mn-lt"/>
                <a:sym typeface="Calibri (MS) Bold"/>
              </a:rPr>
              <a:t>Parameterized Scalability:</a:t>
            </a:r>
            <a:r>
              <a:rPr lang="en-US" sz="1600" dirty="0">
                <a:ea typeface="+mn-lt"/>
                <a:cs typeface="+mn-lt"/>
                <a:sym typeface="Calibri (MS) Bold"/>
              </a:rPr>
              <a:t> The current design uses parameters for data width and address width. A future step could be to test the design's scalability by synthesizing it with different parameters (e.g., a 32-bit wide, 256-word deep FIFO) to analyze the impact on resource utilization.</a:t>
            </a:r>
            <a:endParaRPr lang="en-US" sz="1600" dirty="0">
              <a:ea typeface="+mn-lt"/>
              <a:cs typeface="+mn-lt"/>
            </a:endParaRPr>
          </a:p>
        </p:txBody>
      </p:sp>
      <p:sp>
        <p:nvSpPr>
          <p:cNvPr id="57" name="TextBox 57"/>
          <p:cNvSpPr txBox="1"/>
          <p:nvPr/>
        </p:nvSpPr>
        <p:spPr>
          <a:xfrm>
            <a:off x="297574" y="5178977"/>
            <a:ext cx="9551681" cy="2215991"/>
          </a:xfrm>
          <a:prstGeom prst="rect">
            <a:avLst/>
          </a:prstGeom>
        </p:spPr>
        <p:txBody>
          <a:bodyPr wrap="square" lIns="0" tIns="0" rIns="0" bIns="0" rtlCol="0" anchor="t">
            <a:spAutoFit/>
          </a:bodyPr>
          <a:lstStyle/>
          <a:p>
            <a:pPr algn="just"/>
            <a:r>
              <a:rPr lang="en-US" sz="1600" dirty="0">
                <a:ea typeface="+mn-lt"/>
                <a:cs typeface="+mn-lt"/>
                <a:sym typeface="Calibri (MS) Bold"/>
              </a:rPr>
              <a:t>A First-In-First-Out (FIFO) is a vital digital logic block that functions as a memory buffer, enforcing a "first-in, first-out" data processing order. It serves as an elastic buffer between two communicating systems, particularly useful for rate matching (buffering data between a fast producer and a slow consumer) or for handling data bursts.</a:t>
            </a:r>
            <a:endParaRPr lang="en-US" sz="1600" dirty="0">
              <a:ea typeface="Calibri"/>
              <a:cs typeface="Calibri"/>
            </a:endParaRPr>
          </a:p>
          <a:p>
            <a:pPr algn="just"/>
            <a:r>
              <a:rPr lang="en-US" sz="1600" dirty="0">
                <a:ea typeface="+mn-lt"/>
                <a:cs typeface="+mn-lt"/>
                <a:sym typeface="Calibri (MS) Bold"/>
              </a:rPr>
              <a:t>This project focuses on a </a:t>
            </a:r>
            <a:r>
              <a:rPr lang="en-US" sz="1600" b="1" dirty="0">
                <a:ea typeface="+mn-lt"/>
                <a:cs typeface="+mn-lt"/>
                <a:sym typeface="Calibri (MS) Bold"/>
              </a:rPr>
              <a:t>synchronous FIFO</a:t>
            </a:r>
            <a:r>
              <a:rPr lang="en-US" sz="1600" dirty="0">
                <a:ea typeface="+mn-lt"/>
                <a:cs typeface="+mn-lt"/>
                <a:sym typeface="Calibri (MS) Bold"/>
              </a:rPr>
              <a:t>, where both the write and read operations are controlled by the same clock signal. Implementing this design on a Field-Programmable Gate Array (FPGA) is ideal because it allows for rapid  prototyping and tangible, real-time hardware verification. The FPGA's reconfigurable nature enables us to directly interact with the digital circuit using physical I/O, providing a powerful platform for validating the design's functionality beyond software simulation.</a:t>
            </a:r>
            <a:br>
              <a:rPr lang="en-US" dirty="0">
                <a:sym typeface="Calibri (MS) Bold"/>
              </a:rPr>
            </a:br>
            <a:endParaRPr lang="en-US" sz="1600" dirty="0">
              <a:ea typeface="Calibri"/>
              <a:cs typeface="Calibri"/>
            </a:endParaRPr>
          </a:p>
        </p:txBody>
      </p:sp>
      <p:grpSp>
        <p:nvGrpSpPr>
          <p:cNvPr id="58" name="Group 21"/>
          <p:cNvGrpSpPr/>
          <p:nvPr/>
        </p:nvGrpSpPr>
        <p:grpSpPr>
          <a:xfrm>
            <a:off x="10145110" y="2974935"/>
            <a:ext cx="9693937" cy="3318421"/>
            <a:chOff x="0" y="0"/>
            <a:chExt cx="3625354" cy="2264390"/>
          </a:xfrm>
        </p:grpSpPr>
        <p:sp>
          <p:nvSpPr>
            <p:cNvPr id="59" name="Freeform 22"/>
            <p:cNvSpPr/>
            <p:nvPr/>
          </p:nvSpPr>
          <p:spPr>
            <a:xfrm>
              <a:off x="0" y="0"/>
              <a:ext cx="3625354" cy="2264390"/>
            </a:xfrm>
            <a:custGeom>
              <a:avLst/>
              <a:gdLst/>
              <a:ahLst/>
              <a:cxnLst/>
              <a:rect l="l" t="t" r="r" b="b"/>
              <a:pathLst>
                <a:path w="3625354" h="2264390">
                  <a:moveTo>
                    <a:pt x="2118" y="0"/>
                  </a:moveTo>
                  <a:lnTo>
                    <a:pt x="3623235" y="0"/>
                  </a:lnTo>
                  <a:cubicBezTo>
                    <a:pt x="3624406" y="0"/>
                    <a:pt x="3625354" y="948"/>
                    <a:pt x="3625354" y="2118"/>
                  </a:cubicBezTo>
                  <a:lnTo>
                    <a:pt x="3625354" y="2262271"/>
                  </a:lnTo>
                  <a:cubicBezTo>
                    <a:pt x="3625354" y="2262833"/>
                    <a:pt x="3625131" y="2263372"/>
                    <a:pt x="3624733" y="2263769"/>
                  </a:cubicBezTo>
                  <a:cubicBezTo>
                    <a:pt x="3624336" y="2264166"/>
                    <a:pt x="3623797" y="2264390"/>
                    <a:pt x="3623235" y="2264390"/>
                  </a:cubicBezTo>
                  <a:lnTo>
                    <a:pt x="2118" y="2264390"/>
                  </a:lnTo>
                  <a:cubicBezTo>
                    <a:pt x="948" y="2264390"/>
                    <a:pt x="0" y="2263441"/>
                    <a:pt x="0" y="2262271"/>
                  </a:cubicBezTo>
                  <a:lnTo>
                    <a:pt x="0" y="2118"/>
                  </a:lnTo>
                  <a:cubicBezTo>
                    <a:pt x="0" y="948"/>
                    <a:pt x="948" y="0"/>
                    <a:pt x="2118" y="0"/>
                  </a:cubicBezTo>
                  <a:close/>
                </a:path>
              </a:pathLst>
            </a:custGeom>
            <a:solidFill>
              <a:srgbClr val="FFFFFF"/>
            </a:solidFill>
          </p:spPr>
        </p:sp>
        <p:sp>
          <p:nvSpPr>
            <p:cNvPr id="60" name="TextBox 23"/>
            <p:cNvSpPr txBox="1"/>
            <p:nvPr/>
          </p:nvSpPr>
          <p:spPr>
            <a:xfrm>
              <a:off x="0" y="-28575"/>
              <a:ext cx="3625354" cy="2292965"/>
            </a:xfrm>
            <a:prstGeom prst="rect">
              <a:avLst/>
            </a:prstGeom>
          </p:spPr>
          <p:txBody>
            <a:bodyPr lIns="25953" tIns="25953" rIns="25953" bIns="25953" rtlCol="0" anchor="ctr"/>
            <a:lstStyle/>
            <a:p>
              <a:pPr algn="ctr">
                <a:lnSpc>
                  <a:spcPts val="1430"/>
                </a:lnSpc>
              </a:pPr>
              <a:endParaRPr/>
            </a:p>
          </p:txBody>
        </p:sp>
      </p:grpSp>
      <p:sp>
        <p:nvSpPr>
          <p:cNvPr id="61" name="Rectangle 60"/>
          <p:cNvSpPr/>
          <p:nvPr/>
        </p:nvSpPr>
        <p:spPr>
          <a:xfrm>
            <a:off x="10060117" y="2933866"/>
            <a:ext cx="1967250" cy="462114"/>
          </a:xfrm>
          <a:prstGeom prst="rect">
            <a:avLst/>
          </a:prstGeom>
        </p:spPr>
        <p:txBody>
          <a:bodyPr wrap="square" lIns="91440" tIns="45720" rIns="91440" bIns="45720" anchor="t">
            <a:spAutoFit/>
          </a:bodyPr>
          <a:lstStyle/>
          <a:p>
            <a:pPr algn="ctr">
              <a:lnSpc>
                <a:spcPts val="3003"/>
              </a:lnSpc>
            </a:pPr>
            <a:r>
              <a:rPr lang="en-US" sz="2400" b="1" dirty="0">
                <a:solidFill>
                  <a:srgbClr val="014B9E"/>
                </a:solidFill>
                <a:latin typeface="Calibri (MS) Bold"/>
                <a:ea typeface="Calibri (MS) Bold"/>
                <a:cs typeface="Calibri (MS) Bold"/>
                <a:sym typeface="Calibri (MS) Bold"/>
              </a:rPr>
              <a:t>4</a:t>
            </a:r>
            <a:r>
              <a:rPr lang="en-US" sz="2100" b="1" dirty="0">
                <a:solidFill>
                  <a:srgbClr val="014B9E"/>
                </a:solidFill>
                <a:latin typeface="Calibri (MS) Bold"/>
                <a:ea typeface="Calibri (MS) Bold"/>
                <a:cs typeface="Calibri (MS) Bold"/>
                <a:sym typeface="Calibri (MS) Bold"/>
              </a:rPr>
              <a:t>. Components</a:t>
            </a:r>
          </a:p>
        </p:txBody>
      </p:sp>
      <p:sp>
        <p:nvSpPr>
          <p:cNvPr id="62" name="TextBox 61">
            <a:extLst>
              <a:ext uri="{FF2B5EF4-FFF2-40B4-BE49-F238E27FC236}">
                <a16:creationId xmlns:a16="http://schemas.microsoft.com/office/drawing/2014/main" id="{ADABBEFC-27E7-FEAC-2E23-AA99405B7D46}"/>
              </a:ext>
            </a:extLst>
          </p:cNvPr>
          <p:cNvSpPr txBox="1"/>
          <p:nvPr/>
        </p:nvSpPr>
        <p:spPr>
          <a:xfrm>
            <a:off x="10118879" y="3267545"/>
            <a:ext cx="9731863" cy="3046988"/>
          </a:xfrm>
          <a:prstGeom prst="rect">
            <a:avLst/>
          </a:prstGeom>
          <a:noFill/>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marL="0" lvl="1" algn="just"/>
            <a:r>
              <a:rPr lang="en-US" sz="1600" b="1" dirty="0">
                <a:latin typeface="Calibri"/>
                <a:ea typeface="Inter"/>
                <a:cs typeface="Inter"/>
              </a:rPr>
              <a:t>Hardware:</a:t>
            </a:r>
            <a:endParaRPr lang="en-US" sz="1600" dirty="0">
              <a:latin typeface="Calibri"/>
              <a:ea typeface="Calibri"/>
              <a:cs typeface="Calibri"/>
            </a:endParaRPr>
          </a:p>
          <a:p>
            <a:pPr marL="0" lvl="3" algn="just"/>
            <a:r>
              <a:rPr lang="en-US" sz="1600" dirty="0">
                <a:latin typeface="Calibri"/>
                <a:ea typeface="Inter"/>
                <a:cs typeface="Inter"/>
              </a:rPr>
              <a:t>FPGA: Xilinx Spartan-6 (XC6SLX9-TQG144C) on an EDGE Spartan 6 Development Board.</a:t>
            </a:r>
          </a:p>
          <a:p>
            <a:pPr marL="0" lvl="3" algn="just"/>
            <a:r>
              <a:rPr lang="en-US" sz="1600" dirty="0">
                <a:latin typeface="Calibri"/>
                <a:ea typeface="Inter"/>
                <a:cs typeface="Inter"/>
              </a:rPr>
              <a:t>Clock Source: 50 MHz crystal oscillator.</a:t>
            </a:r>
          </a:p>
          <a:p>
            <a:pPr marL="0" lvl="3" algn="just"/>
            <a:r>
              <a:rPr lang="en-US" sz="1600" dirty="0">
                <a:latin typeface="Calibri"/>
                <a:ea typeface="Inter"/>
                <a:cs typeface="Inter"/>
              </a:rPr>
              <a:t>Input Devices: 8 SPDT slide switches for parallel data input; 3 tactile push buttons for Write, Read, and Reset control (active-high).</a:t>
            </a:r>
          </a:p>
          <a:p>
            <a:pPr marL="0" lvl="3" algn="just"/>
            <a:r>
              <a:rPr lang="en-US" sz="1600" dirty="0">
                <a:latin typeface="Calibri"/>
                <a:ea typeface="Inter"/>
                <a:cs typeface="Inter"/>
              </a:rPr>
              <a:t>Output Devices: 8 general-purpose LEDs for data output; 2 additional LEDs for </a:t>
            </a:r>
            <a:r>
              <a:rPr lang="en-US" sz="1600" dirty="0">
                <a:latin typeface="Calibri"/>
                <a:ea typeface="DM Mono"/>
                <a:cs typeface="DM Mono"/>
              </a:rPr>
              <a:t>full</a:t>
            </a:r>
            <a:r>
              <a:rPr lang="en-US" sz="1600" dirty="0">
                <a:latin typeface="Calibri"/>
                <a:ea typeface="Inter"/>
                <a:cs typeface="Inter"/>
              </a:rPr>
              <a:t> and </a:t>
            </a:r>
            <a:r>
              <a:rPr lang="en-US" sz="1600" dirty="0">
                <a:latin typeface="Calibri"/>
                <a:ea typeface="DM Mono"/>
                <a:cs typeface="DM Mono"/>
              </a:rPr>
              <a:t>empty</a:t>
            </a:r>
            <a:r>
              <a:rPr lang="en-US" sz="1600" dirty="0">
                <a:latin typeface="Calibri"/>
                <a:ea typeface="Inter"/>
                <a:cs typeface="Inter"/>
              </a:rPr>
              <a:t> status indication.</a:t>
            </a:r>
            <a:endParaRPr lang="en-US" dirty="0">
              <a:ea typeface="+mn-lt"/>
              <a:cs typeface="+mn-lt"/>
            </a:endParaRPr>
          </a:p>
          <a:p>
            <a:pPr marL="0" lvl="3" algn="just"/>
            <a:r>
              <a:rPr lang="en-US" sz="1600" b="1" dirty="0">
                <a:ea typeface="+mn-lt"/>
                <a:cs typeface="+mn-lt"/>
              </a:rPr>
              <a:t>USB JTAG Programmer:</a:t>
            </a:r>
            <a:r>
              <a:rPr lang="en-US" sz="1600" dirty="0">
                <a:ea typeface="+mn-lt"/>
                <a:cs typeface="+mn-lt"/>
              </a:rPr>
              <a:t> The interface for downloading the compiled bitstream file to the FPGA.</a:t>
            </a:r>
            <a:endParaRPr lang="en-US" dirty="0">
              <a:ea typeface="+mn-lt"/>
              <a:cs typeface="+mn-lt"/>
            </a:endParaRPr>
          </a:p>
          <a:p>
            <a:pPr marL="0" lvl="3" algn="just"/>
            <a:r>
              <a:rPr lang="en-US" sz="1600" b="1" dirty="0">
                <a:ea typeface="+mn-lt"/>
                <a:cs typeface="+mn-lt"/>
              </a:rPr>
              <a:t>5V Power Supply:</a:t>
            </a:r>
            <a:r>
              <a:rPr lang="en-US" sz="1600" dirty="0">
                <a:ea typeface="+mn-lt"/>
                <a:cs typeface="+mn-lt"/>
              </a:rPr>
              <a:t> Provides power to the FPGA board.</a:t>
            </a:r>
            <a:endParaRPr lang="en-US">
              <a:ea typeface="+mn-lt"/>
              <a:cs typeface="+mn-lt"/>
            </a:endParaRPr>
          </a:p>
          <a:p>
            <a:pPr marL="0" lvl="1" algn="just"/>
            <a:r>
              <a:rPr lang="en-US" sz="1600" b="1" dirty="0">
                <a:latin typeface="Calibri"/>
                <a:ea typeface="Inter"/>
                <a:cs typeface="Inter"/>
              </a:rPr>
              <a:t>Software:</a:t>
            </a:r>
          </a:p>
          <a:p>
            <a:pPr marL="0" lvl="3" algn="just"/>
            <a:r>
              <a:rPr lang="en-US" sz="1600" dirty="0">
                <a:latin typeface="Calibri"/>
                <a:ea typeface="Inter"/>
                <a:cs typeface="Inter"/>
              </a:rPr>
              <a:t>Design Suite: Xilinx ISE 14.7.</a:t>
            </a:r>
          </a:p>
          <a:p>
            <a:pPr marL="0" lvl="3" algn="just"/>
            <a:r>
              <a:rPr lang="en-US" sz="1600" dirty="0">
                <a:latin typeface="Calibri"/>
                <a:ea typeface="Inter"/>
                <a:cs typeface="Inter"/>
              </a:rPr>
              <a:t>Programming Tool: Xilinx </a:t>
            </a:r>
            <a:r>
              <a:rPr lang="en-US" sz="1600" err="1">
                <a:latin typeface="Calibri"/>
                <a:ea typeface="Inter"/>
                <a:cs typeface="Inter"/>
              </a:rPr>
              <a:t>iMPACT</a:t>
            </a:r>
            <a:r>
              <a:rPr lang="en-US" sz="1600" dirty="0">
                <a:latin typeface="Calibri"/>
                <a:ea typeface="Inter"/>
                <a:cs typeface="Inter"/>
              </a:rPr>
              <a:t>.</a:t>
            </a:r>
          </a:p>
          <a:p>
            <a:pPr marL="0" lvl="3" algn="just"/>
            <a:r>
              <a:rPr lang="en-US" sz="1600" dirty="0">
                <a:latin typeface="Calibri"/>
                <a:ea typeface="Inter"/>
                <a:cs typeface="Inter"/>
              </a:rPr>
              <a:t>Hardware Description Language: Verilog.</a:t>
            </a:r>
          </a:p>
        </p:txBody>
      </p:sp>
      <p:sp>
        <p:nvSpPr>
          <p:cNvPr id="64" name="TextBox 63">
            <a:extLst>
              <a:ext uri="{FF2B5EF4-FFF2-40B4-BE49-F238E27FC236}">
                <a16:creationId xmlns:a16="http://schemas.microsoft.com/office/drawing/2014/main" id="{3C0FA4E6-13B4-A644-7439-369599CB5812}"/>
              </a:ext>
            </a:extLst>
          </p:cNvPr>
          <p:cNvSpPr txBox="1"/>
          <p:nvPr/>
        </p:nvSpPr>
        <p:spPr>
          <a:xfrm>
            <a:off x="10152896" y="6439475"/>
            <a:ext cx="2673817" cy="6924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100" b="1" dirty="0">
                <a:solidFill>
                  <a:srgbClr val="014B9E"/>
                </a:solidFill>
                <a:latin typeface="Calibri"/>
                <a:ea typeface="Calibri"/>
                <a:cs typeface="Calibri"/>
              </a:rPr>
              <a:t>5. Simulation Result</a:t>
            </a:r>
          </a:p>
          <a:p>
            <a:pPr algn="ctr"/>
            <a:endParaRPr lang="en-US"/>
          </a:p>
        </p:txBody>
      </p:sp>
      <p:sp>
        <p:nvSpPr>
          <p:cNvPr id="71" name="TextBox 70">
            <a:extLst>
              <a:ext uri="{FF2B5EF4-FFF2-40B4-BE49-F238E27FC236}">
                <a16:creationId xmlns:a16="http://schemas.microsoft.com/office/drawing/2014/main" id="{FB0BB12E-401F-9363-85D1-926B24DC6C90}"/>
              </a:ext>
            </a:extLst>
          </p:cNvPr>
          <p:cNvSpPr txBox="1"/>
          <p:nvPr/>
        </p:nvSpPr>
        <p:spPr>
          <a:xfrm>
            <a:off x="10159050" y="6783008"/>
            <a:ext cx="930772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dirty="0">
                <a:ea typeface="+mn-lt"/>
                <a:cs typeface="+mn-lt"/>
              </a:rPr>
              <a:t>The project's logical correctness was confirmed through simulation, and the overall methodology followed the standard FPGA design flow, as illustrated in the flowchart below. This structured process ensures that the design is verified in software before being committed to hardware.</a:t>
            </a:r>
          </a:p>
          <a:p>
            <a:pPr algn="just"/>
            <a:r>
              <a:rPr lang="en-US" sz="1600" b="1" dirty="0"/>
              <a:t>Verification through Simulation</a:t>
            </a:r>
            <a:endParaRPr lang="en-US" sz="1600" b="1" dirty="0">
              <a:ea typeface="Calibri"/>
              <a:cs typeface="Calibri"/>
            </a:endParaRPr>
          </a:p>
          <a:p>
            <a:pPr algn="just"/>
            <a:r>
              <a:rPr lang="en-US" sz="1600" dirty="0">
                <a:ea typeface="+mn-lt"/>
                <a:cs typeface="+mn-lt"/>
              </a:rPr>
              <a:t>Before synthesis, the system was thoroughly simulated using a </a:t>
            </a:r>
            <a:r>
              <a:rPr lang="en-US" sz="1600" b="1" dirty="0">
                <a:ea typeface="+mn-lt"/>
                <a:cs typeface="+mn-lt"/>
              </a:rPr>
              <a:t>Verilog testbench</a:t>
            </a:r>
            <a:r>
              <a:rPr lang="en-US" sz="1600" dirty="0">
                <a:ea typeface="+mn-lt"/>
                <a:cs typeface="+mn-lt"/>
              </a:rPr>
              <a:t> in Xilinx ISE. The simulation confirmed that the design logic performed exactly as intended:</a:t>
            </a:r>
          </a:p>
          <a:p>
            <a:pPr algn="just"/>
            <a:r>
              <a:rPr lang="en-US" sz="1600" b="1" dirty="0">
                <a:ea typeface="+mn-lt"/>
                <a:cs typeface="+mn-lt"/>
              </a:rPr>
              <a:t>Reset Functionality:</a:t>
            </a:r>
            <a:r>
              <a:rPr lang="en-US" sz="1600" dirty="0">
                <a:ea typeface="+mn-lt"/>
                <a:cs typeface="+mn-lt"/>
              </a:rPr>
              <a:t> The testbench verified that a reset pulse correctly initializes the FIFO to a known empty state, causing the empty flag to assert.</a:t>
            </a:r>
          </a:p>
          <a:p>
            <a:pPr algn="just"/>
            <a:r>
              <a:rPr lang="en-US" sz="1600" b="1" dirty="0">
                <a:ea typeface="+mn-lt"/>
                <a:cs typeface="+mn-lt"/>
              </a:rPr>
              <a:t>FIFO Operation:</a:t>
            </a:r>
            <a:r>
              <a:rPr lang="en-US" sz="1600" dirty="0">
                <a:ea typeface="+mn-lt"/>
                <a:cs typeface="+mn-lt"/>
              </a:rPr>
              <a:t> A sequence of data was written into the FIFO, followed by a sequence of reads. The simulation confirmed that data was read out from the output port in the exact same sequence it was written, proving correct </a:t>
            </a:r>
            <a:r>
              <a:rPr lang="en-US" sz="1600" b="1" dirty="0">
                <a:ea typeface="+mn-lt"/>
                <a:cs typeface="+mn-lt"/>
              </a:rPr>
              <a:t>First-In, First-Out</a:t>
            </a:r>
            <a:r>
              <a:rPr lang="en-US" sz="1600" dirty="0">
                <a:ea typeface="+mn-lt"/>
                <a:cs typeface="+mn-lt"/>
              </a:rPr>
              <a:t> behavior.</a:t>
            </a:r>
          </a:p>
          <a:p>
            <a:pPr algn="just"/>
            <a:r>
              <a:rPr lang="en-US" sz="1600" b="1" dirty="0">
                <a:ea typeface="+mn-lt"/>
                <a:cs typeface="+mn-lt"/>
              </a:rPr>
              <a:t>Status Flags:</a:t>
            </a:r>
            <a:r>
              <a:rPr lang="en-US" sz="1600" dirty="0">
                <a:ea typeface="+mn-lt"/>
                <a:cs typeface="+mn-lt"/>
              </a:rPr>
              <a:t> The empty and full flags were verified to assert and de-assert correctly at their respective boundary conditions, preventing data underflow and overflow.</a:t>
            </a:r>
          </a:p>
          <a:p>
            <a:pPr algn="just"/>
            <a:r>
              <a:rPr lang="en-US" sz="1600" dirty="0">
                <a:ea typeface="+mn-lt"/>
                <a:cs typeface="+mn-lt"/>
              </a:rPr>
              <a:t>The hardware performed exactly as the simulation predicted, successfully validating the entire design from code to the physical chip.</a:t>
            </a:r>
          </a:p>
        </p:txBody>
      </p:sp>
    </p:spTree>
    <p:extLst>
      <p:ext uri="{BB962C8B-B14F-4D97-AF65-F5344CB8AC3E}">
        <p14:creationId xmlns:p14="http://schemas.microsoft.com/office/powerpoint/2010/main" val="221259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diagram of a flowchart&#10;&#10;AI-generated content may be incorrect.">
            <a:extLst>
              <a:ext uri="{FF2B5EF4-FFF2-40B4-BE49-F238E27FC236}">
                <a16:creationId xmlns:a16="http://schemas.microsoft.com/office/drawing/2014/main" id="{5D941217-9ED9-EEAA-1C75-67772A51B225}"/>
              </a:ext>
            </a:extLst>
          </p:cNvPr>
          <p:cNvPicPr>
            <a:picLocks noChangeAspect="1"/>
          </p:cNvPicPr>
          <p:nvPr/>
        </p:nvPicPr>
        <p:blipFill>
          <a:blip r:embed="rId2"/>
          <a:stretch>
            <a:fillRect/>
          </a:stretch>
        </p:blipFill>
        <p:spPr>
          <a:xfrm>
            <a:off x="7067208" y="461345"/>
            <a:ext cx="6824458" cy="13928363"/>
          </a:xfrm>
          <a:prstGeom prst="rect">
            <a:avLst/>
          </a:prstGeom>
        </p:spPr>
      </p:pic>
    </p:spTree>
    <p:extLst>
      <p:ext uri="{BB962C8B-B14F-4D97-AF65-F5344CB8AC3E}">
        <p14:creationId xmlns:p14="http://schemas.microsoft.com/office/powerpoint/2010/main" val="2369721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270</TotalTime>
  <Words>196</Words>
  <Application>Microsoft Office PowerPoint</Application>
  <PresentationFormat>Custom</PresentationFormat>
  <Paragraphs>31</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VERILOG - POSTER PRESENTATION </dc:title>
  <cp:lastModifiedBy>HP</cp:lastModifiedBy>
  <cp:revision>349</cp:revision>
  <dcterms:created xsi:type="dcterms:W3CDTF">2006-08-16T00:00:00Z</dcterms:created>
  <dcterms:modified xsi:type="dcterms:W3CDTF">2025-11-14T04:27:44Z</dcterms:modified>
  <dc:identifier>DAG1qG6fK5E</dc:identifier>
</cp:coreProperties>
</file>